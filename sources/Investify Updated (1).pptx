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258" r:id="rId4"/>
    <p:sldId id="259" r:id="rId5"/>
    <p:sldId id="261" r:id="rId6"/>
    <p:sldId id="262" r:id="rId7"/>
    <p:sldId id="271" r:id="rId8"/>
    <p:sldId id="270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67B1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0756" autoAdjust="0"/>
  </p:normalViewPr>
  <p:slideViewPr>
    <p:cSldViewPr snapToGrid="0">
      <p:cViewPr>
        <p:scale>
          <a:sx n="100" d="100"/>
          <a:sy n="100" d="100"/>
        </p:scale>
        <p:origin x="9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tNode1NoLn">
    <dgm:fillClrLst meth="repeat">
      <a:schemeClr val="lt1">
        <a:tint val="75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dk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CCD79B-0560-4031-B4E7-171B57A402A6}" type="doc">
      <dgm:prSet loTypeId="urn:microsoft.com/office/officeart/2026/layout/SmallDotsVertical" loCatId="timeline" qsTypeId="urn:microsoft.com/office/officeart/2005/8/quickstyle/simple3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A7F3D95B-1733-465F-8DD3-B3E6DCC959BF}">
      <dgm:prSet phldrT="Add an event" phldr="0" custT="1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US" sz="2400" dirty="0">
              <a:solidFill>
                <a:schemeClr val="tx1"/>
              </a:solidFill>
            </a:rPr>
            <a:t>Mid Defense</a:t>
          </a:r>
        </a:p>
      </dgm:t>
    </dgm:pt>
    <dgm:pt modelId="{66B899FD-AF88-41F7-9534-715E4537DF42}" type="parTrans" cxnId="{34B22897-2D46-4E11-82DA-727F34CF4C86}">
      <dgm:prSet/>
      <dgm:spPr/>
      <dgm:t>
        <a:bodyPr/>
        <a:lstStyle/>
        <a:p>
          <a:endParaRPr lang="en-US"/>
        </a:p>
      </dgm:t>
    </dgm:pt>
    <dgm:pt modelId="{58DB5D06-D77E-47F2-8913-DC03C2290774}" type="sibTrans" cxnId="{34B22897-2D46-4E11-82DA-727F34CF4C86}">
      <dgm:prSet phldrT="1" phldr="0"/>
      <dgm:spPr/>
      <dgm:t>
        <a:bodyPr/>
        <a:lstStyle/>
        <a:p>
          <a:endParaRPr lang="en-US"/>
        </a:p>
      </dgm:t>
    </dgm:pt>
    <dgm:pt modelId="{E56EC465-6077-4528-80F5-4AABC6A7EE98}">
      <dgm:prSet phldrT="Write a description of the significance of this event" phldr="0" custT="1"/>
      <dgm:spPr/>
      <dgm:t>
        <a:bodyPr/>
        <a:lstStyle/>
        <a:p>
          <a:r>
            <a:rPr lang="en-US" sz="1200" dirty="0"/>
            <a:t>Prove core technical building </a:t>
          </a:r>
          <a:r>
            <a:rPr lang="en-US" sz="1200" b="1" dirty="0"/>
            <a:t>blocks work in isolation</a:t>
          </a:r>
        </a:p>
        <a:p>
          <a:r>
            <a:rPr lang="en-US" sz="1200" dirty="0"/>
            <a:t>Complete Risk Profiling Layer</a:t>
          </a:r>
        </a:p>
        <a:p>
          <a:r>
            <a:rPr lang="en-US" sz="1200" dirty="0"/>
            <a:t>Historical Data Pipeline </a:t>
          </a:r>
        </a:p>
        <a:p>
          <a:r>
            <a:rPr lang="en-US" sz="1200" dirty="0"/>
            <a:t>FinBERT and CryptoBERT scoring on sample data set</a:t>
          </a:r>
        </a:p>
        <a:p>
          <a:endParaRPr lang="en-US" sz="1200" dirty="0"/>
        </a:p>
      </dgm:t>
    </dgm:pt>
    <dgm:pt modelId="{520E07B9-EF01-498E-B98B-310AA4F6C5FE}" type="parTrans" cxnId="{DACBF756-8A51-4B1E-BA9F-123ADE243331}">
      <dgm:prSet/>
      <dgm:spPr/>
      <dgm:t>
        <a:bodyPr/>
        <a:lstStyle/>
        <a:p>
          <a:endParaRPr lang="en-US"/>
        </a:p>
      </dgm:t>
    </dgm:pt>
    <dgm:pt modelId="{4BB19EC2-41F6-4AB2-9171-64A0B14F8D0F}" type="sibTrans" cxnId="{DACBF756-8A51-4B1E-BA9F-123ADE243331}">
      <dgm:prSet/>
      <dgm:spPr/>
      <dgm:t>
        <a:bodyPr/>
        <a:lstStyle/>
        <a:p>
          <a:endParaRPr lang="en-US"/>
        </a:p>
      </dgm:t>
    </dgm:pt>
    <dgm:pt modelId="{48BA457B-CD50-4AAA-B79C-28809FDE22C7}">
      <dgm:prSet phldrT="Add an event" phldr="0" custT="1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US" sz="2400" dirty="0">
              <a:solidFill>
                <a:schemeClr val="tx1"/>
              </a:solidFill>
            </a:rPr>
            <a:t>Final Defense</a:t>
          </a:r>
        </a:p>
      </dgm:t>
    </dgm:pt>
    <dgm:pt modelId="{DCEB0A9A-D595-4BA2-B7E7-A7F1F616C605}" type="parTrans" cxnId="{6950C3E6-83B9-4E8C-901C-8F194B078125}">
      <dgm:prSet/>
      <dgm:spPr/>
      <dgm:t>
        <a:bodyPr/>
        <a:lstStyle/>
        <a:p>
          <a:endParaRPr lang="en-US"/>
        </a:p>
      </dgm:t>
    </dgm:pt>
    <dgm:pt modelId="{69FE78BA-D1D7-4313-B64D-F37D8C0C82E4}" type="sibTrans" cxnId="{6950C3E6-83B9-4E8C-901C-8F194B078125}">
      <dgm:prSet phldrT="2" phldr="0"/>
      <dgm:spPr/>
      <dgm:t>
        <a:bodyPr/>
        <a:lstStyle/>
        <a:p>
          <a:endParaRPr lang="en-US"/>
        </a:p>
      </dgm:t>
    </dgm:pt>
    <dgm:pt modelId="{A78CEAD8-64C6-46A5-A7E4-F5DAE47E4C06}">
      <dgm:prSet phldrT="Write a description of the significance of this event" phldr="0" custT="1"/>
      <dgm:spPr/>
      <dgm:t>
        <a:bodyPr/>
        <a:lstStyle/>
        <a:p>
          <a:r>
            <a:rPr lang="en-US" sz="1200" b="1" dirty="0"/>
            <a:t>Functional web prototype</a:t>
          </a:r>
          <a:r>
            <a:rPr lang="en-US" sz="1200" dirty="0"/>
            <a:t>: risk quiz → company selection → recommendation → SHAP-based explanation</a:t>
          </a:r>
        </a:p>
        <a:p>
          <a:r>
            <a:rPr lang="en-US" sz="1200" dirty="0"/>
            <a:t>XG model trained</a:t>
          </a:r>
        </a:p>
        <a:p>
          <a:r>
            <a:rPr lang="en-US" sz="1200" dirty="0"/>
            <a:t>SHAP integrated</a:t>
          </a:r>
        </a:p>
        <a:p>
          <a:r>
            <a:rPr lang="en-US" sz="1200" dirty="0"/>
            <a:t>LLM explanation layer</a:t>
          </a:r>
        </a:p>
        <a:p>
          <a:r>
            <a:rPr lang="en-US" sz="1200" dirty="0"/>
            <a:t>Nightly batch sentiment scoring pipeline operational</a:t>
          </a:r>
        </a:p>
        <a:p>
          <a:endParaRPr lang="en-US" sz="1200" dirty="0"/>
        </a:p>
        <a:p>
          <a:endParaRPr lang="en-US" sz="1200" dirty="0"/>
        </a:p>
      </dgm:t>
    </dgm:pt>
    <dgm:pt modelId="{485C621B-8EF0-47D3-AC1B-0F889E0625B9}" type="parTrans" cxnId="{4454530A-171F-4386-ADFC-BD8BC669591B}">
      <dgm:prSet/>
      <dgm:spPr/>
      <dgm:t>
        <a:bodyPr/>
        <a:lstStyle/>
        <a:p>
          <a:endParaRPr lang="en-US"/>
        </a:p>
      </dgm:t>
    </dgm:pt>
    <dgm:pt modelId="{2CC8B226-2AA8-4185-8C12-306A85E60E20}" type="sibTrans" cxnId="{4454530A-171F-4386-ADFC-BD8BC669591B}">
      <dgm:prSet/>
      <dgm:spPr/>
      <dgm:t>
        <a:bodyPr/>
        <a:lstStyle/>
        <a:p>
          <a:endParaRPr lang="en-US"/>
        </a:p>
      </dgm:t>
    </dgm:pt>
    <dgm:pt modelId="{E7D3E756-692F-47FA-A930-C6E1F9CA3395}">
      <dgm:prSet phldrT="Add an event" phldr="0" custT="1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US" sz="2400" dirty="0">
              <a:solidFill>
                <a:schemeClr val="tx1"/>
              </a:solidFill>
            </a:rPr>
            <a:t>Mid Evaluation</a:t>
          </a:r>
        </a:p>
      </dgm:t>
    </dgm:pt>
    <dgm:pt modelId="{A36A3099-CC52-4D39-90A3-9FA45CCD3EBF}" type="parTrans" cxnId="{6979707A-0A8F-41AF-B061-429689C35414}">
      <dgm:prSet/>
      <dgm:spPr/>
      <dgm:t>
        <a:bodyPr/>
        <a:lstStyle/>
        <a:p>
          <a:endParaRPr lang="en-US"/>
        </a:p>
      </dgm:t>
    </dgm:pt>
    <dgm:pt modelId="{2529389A-8F03-4C15-9D46-2CB84F2F02C6}" type="sibTrans" cxnId="{6979707A-0A8F-41AF-B061-429689C35414}">
      <dgm:prSet phldrT="3" phldr="0"/>
      <dgm:spPr/>
      <dgm:t>
        <a:bodyPr/>
        <a:lstStyle/>
        <a:p>
          <a:endParaRPr lang="en-US"/>
        </a:p>
      </dgm:t>
    </dgm:pt>
    <dgm:pt modelId="{D644594F-174C-43B8-8FCC-1D272BE5FFDC}">
      <dgm:prSet phldrT="Write a description of the significance of this event" custT="1"/>
      <dgm:spPr/>
      <dgm:t>
        <a:bodyPr/>
        <a:lstStyle/>
        <a:p>
          <a:r>
            <a:rPr lang="en-US" sz="1200" dirty="0"/>
            <a:t>All modules working together as </a:t>
          </a:r>
          <a:r>
            <a:rPr lang="en-US" sz="1200" b="1" dirty="0"/>
            <a:t>one coherent, stable system</a:t>
          </a:r>
        </a:p>
        <a:p>
          <a:r>
            <a:rPr lang="en-US" sz="1200" dirty="0"/>
            <a:t>Full integration across all 7 tickers (not just baseline ticker)</a:t>
          </a:r>
        </a:p>
      </dgm:t>
    </dgm:pt>
    <dgm:pt modelId="{C4B391A4-7752-4DE2-AC87-D7F19A04C6FC}" type="parTrans" cxnId="{AF826F9A-75E2-4370-8359-8206B82D5405}">
      <dgm:prSet/>
      <dgm:spPr/>
      <dgm:t>
        <a:bodyPr/>
        <a:lstStyle/>
        <a:p>
          <a:endParaRPr lang="en-US"/>
        </a:p>
      </dgm:t>
    </dgm:pt>
    <dgm:pt modelId="{11F52A6E-0D64-4026-B5D7-C7AB1D136EE3}" type="sibTrans" cxnId="{AF826F9A-75E2-4370-8359-8206B82D5405}">
      <dgm:prSet/>
      <dgm:spPr/>
      <dgm:t>
        <a:bodyPr/>
        <a:lstStyle/>
        <a:p>
          <a:endParaRPr lang="en-US"/>
        </a:p>
      </dgm:t>
    </dgm:pt>
    <dgm:pt modelId="{B0EE0102-93B7-4B1F-96D1-54C6B7E0C8AF}">
      <dgm:prSet phldrT="Add an event" phldr="0" custT="1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US" sz="2400" dirty="0">
              <a:solidFill>
                <a:schemeClr val="tx1"/>
              </a:solidFill>
            </a:rPr>
            <a:t>Final Defense</a:t>
          </a:r>
        </a:p>
      </dgm:t>
    </dgm:pt>
    <dgm:pt modelId="{DC6201D0-D419-4552-B3BA-EDFE44CC7B7E}" type="parTrans" cxnId="{7B22BC8A-6A06-48D3-9F91-848134D9B246}">
      <dgm:prSet/>
      <dgm:spPr/>
      <dgm:t>
        <a:bodyPr/>
        <a:lstStyle/>
        <a:p>
          <a:endParaRPr lang="en-US"/>
        </a:p>
      </dgm:t>
    </dgm:pt>
    <dgm:pt modelId="{4FB06A7A-0842-4684-8EE7-60696D7E2DA2}" type="sibTrans" cxnId="{7B22BC8A-6A06-48D3-9F91-848134D9B246}">
      <dgm:prSet phldrT="4" phldr="0"/>
      <dgm:spPr/>
      <dgm:t>
        <a:bodyPr/>
        <a:lstStyle/>
        <a:p>
          <a:endParaRPr lang="en-US"/>
        </a:p>
      </dgm:t>
    </dgm:pt>
    <dgm:pt modelId="{AB01A575-703B-4F3F-96FF-3E749EC00834}">
      <dgm:prSet phldrT="Write a description of the significance of this event" custT="1"/>
      <dgm:spPr/>
      <dgm:t>
        <a:bodyPr/>
        <a:lstStyle/>
        <a:p>
          <a:r>
            <a:rPr lang="en-US" sz="1200" b="1" dirty="0"/>
            <a:t>Production-ready deployment </a:t>
          </a:r>
          <a:r>
            <a:rPr lang="en-US" sz="1200" dirty="0"/>
            <a:t>and complete documentation </a:t>
          </a:r>
        </a:p>
        <a:p>
          <a:r>
            <a:rPr lang="en-US" sz="1200" dirty="0"/>
            <a:t>Complete project report: methodology, architecture, evaluation, limitations, future work</a:t>
          </a:r>
        </a:p>
      </dgm:t>
    </dgm:pt>
    <dgm:pt modelId="{1B0529BB-1968-49A8-AE92-733E3026F8AC}" type="parTrans" cxnId="{84D64A12-8121-46AD-BC72-9A390204EA33}">
      <dgm:prSet/>
      <dgm:spPr/>
      <dgm:t>
        <a:bodyPr/>
        <a:lstStyle/>
        <a:p>
          <a:endParaRPr lang="en-US"/>
        </a:p>
      </dgm:t>
    </dgm:pt>
    <dgm:pt modelId="{A9262A85-8A64-4F3D-9D66-08A050279C3B}" type="sibTrans" cxnId="{84D64A12-8121-46AD-BC72-9A390204EA33}">
      <dgm:prSet/>
      <dgm:spPr/>
      <dgm:t>
        <a:bodyPr/>
        <a:lstStyle/>
        <a:p>
          <a:endParaRPr lang="en-US"/>
        </a:p>
      </dgm:t>
    </dgm:pt>
    <dgm:pt modelId="{AB663226-CB22-4CB2-A36D-6A9531900E16}">
      <dgm:prSet custT="1"/>
      <dgm:spPr/>
      <dgm:t>
        <a:bodyPr/>
        <a:lstStyle/>
        <a:p>
          <a:r>
            <a:rPr lang="en-US" sz="1200" dirty="0"/>
            <a:t>Chat/follow-up interface with 10-message rolling context window implemented and tested</a:t>
          </a:r>
        </a:p>
      </dgm:t>
    </dgm:pt>
    <dgm:pt modelId="{DCB1C8D5-9B7F-425D-8BB0-59896E681952}" type="parTrans" cxnId="{737723EA-395C-4B8A-88AB-5FB69EBBB02B}">
      <dgm:prSet/>
      <dgm:spPr/>
      <dgm:t>
        <a:bodyPr/>
        <a:lstStyle/>
        <a:p>
          <a:endParaRPr lang="en-US"/>
        </a:p>
      </dgm:t>
    </dgm:pt>
    <dgm:pt modelId="{BDD1A868-F66D-4852-A63E-BCFA6A96FA8D}" type="sibTrans" cxnId="{737723EA-395C-4B8A-88AB-5FB69EBBB02B}">
      <dgm:prSet/>
      <dgm:spPr/>
      <dgm:t>
        <a:bodyPr/>
        <a:lstStyle/>
        <a:p>
          <a:endParaRPr lang="en-US"/>
        </a:p>
      </dgm:t>
    </dgm:pt>
    <dgm:pt modelId="{041843E2-3494-435B-9748-45793BFDAC6F}">
      <dgm:prSet custT="1"/>
      <dgm:spPr/>
      <dgm:t>
        <a:bodyPr/>
        <a:lstStyle/>
        <a:p>
          <a:r>
            <a:rPr lang="en-US" sz="1200" dirty="0"/>
            <a:t>Leakage evaluation completed: walk-forward vs. shuffled-fold comparison, both negative controls (1-day horizon, shuffled-fold) run</a:t>
          </a:r>
        </a:p>
        <a:p>
          <a:r>
            <a:rPr lang="en-US" sz="1200" dirty="0"/>
            <a:t>Performance/latency check </a:t>
          </a:r>
        </a:p>
      </dgm:t>
    </dgm:pt>
    <dgm:pt modelId="{444ABED1-CDC0-4C56-B47B-144E393F0156}" type="parTrans" cxnId="{D80F5F36-A0BE-45E5-B3B0-C269E3AACEC3}">
      <dgm:prSet/>
      <dgm:spPr/>
      <dgm:t>
        <a:bodyPr/>
        <a:lstStyle/>
        <a:p>
          <a:endParaRPr lang="en-US"/>
        </a:p>
      </dgm:t>
    </dgm:pt>
    <dgm:pt modelId="{B7D74043-7374-467E-BB9F-9A5ABB122B0A}" type="sibTrans" cxnId="{D80F5F36-A0BE-45E5-B3B0-C269E3AACEC3}">
      <dgm:prSet/>
      <dgm:spPr/>
      <dgm:t>
        <a:bodyPr/>
        <a:lstStyle/>
        <a:p>
          <a:endParaRPr lang="en-US"/>
        </a:p>
      </dgm:t>
    </dgm:pt>
    <dgm:pt modelId="{01B93DFC-D9B5-4BD4-8175-EA2021FB242F}" type="pres">
      <dgm:prSet presAssocID="{A3CCD79B-0560-4031-B4E7-171B57A402A6}" presName="root" presStyleCnt="0">
        <dgm:presLayoutVars>
          <dgm:dir/>
          <dgm:resizeHandles val="exact"/>
        </dgm:presLayoutVars>
      </dgm:prSet>
      <dgm:spPr/>
    </dgm:pt>
    <dgm:pt modelId="{EBD1CD37-050E-4DCA-A9E4-37B0D871CE6A}" type="pres">
      <dgm:prSet presAssocID="{A3CCD79B-0560-4031-B4E7-171B57A402A6}" presName="connLine" presStyleLbl="dkBgShp" presStyleIdx="0" presStyleCnt="1"/>
      <dgm:spPr>
        <a:gradFill rotWithShape="0">
          <a:gsLst>
            <a:gs pos="0">
              <a:schemeClr val="dk1">
                <a:tint val="76000"/>
              </a:schemeClr>
            </a:gs>
            <a:gs pos="100000">
              <a:schemeClr val="dk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519AFC7F-A544-4A86-951D-4DE6712D343B}" type="pres">
      <dgm:prSet presAssocID="{A3CCD79B-0560-4031-B4E7-171B57A402A6}" presName="itemsFlow" presStyleCnt="0"/>
      <dgm:spPr/>
    </dgm:pt>
    <dgm:pt modelId="{16969B7A-03FE-4898-BFAF-D345C3EEEF58}" type="pres">
      <dgm:prSet presAssocID="{A7F3D95B-1733-465F-8DD3-B3E6DCC959BF}" presName="item" presStyleCnt="0"/>
      <dgm:spPr/>
    </dgm:pt>
    <dgm:pt modelId="{DCC40982-0B50-49DF-8A63-426335B3760A}" type="pres">
      <dgm:prSet presAssocID="{A7F3D95B-1733-465F-8DD3-B3E6DCC959BF}" presName="anchor" presStyleCnt="0"/>
      <dgm:spPr/>
    </dgm:pt>
    <dgm:pt modelId="{FB52FB39-2C0F-4263-ABF8-603ECE6F622E}" type="pres">
      <dgm:prSet presAssocID="{A7F3D95B-1733-465F-8DD3-B3E6DCC959BF}" presName="titleText" presStyleLbl="revTx" presStyleIdx="0" presStyleCnt="0">
        <dgm:presLayoutVars>
          <dgm:chMax val="0"/>
          <dgm:chPref val="0"/>
        </dgm:presLayoutVars>
      </dgm:prSet>
      <dgm:spPr/>
    </dgm:pt>
    <dgm:pt modelId="{CB4A1D92-1300-4535-A947-80EBC14A22D0}" type="pres">
      <dgm:prSet presAssocID="{A7F3D95B-1733-465F-8DD3-B3E6DCC959BF}" presName="dot" presStyleLbl="node1NoLn" presStyleIdx="0" presStyleCnt="4"/>
      <dgm:spPr/>
    </dgm:pt>
    <dgm:pt modelId="{C6351F1D-8744-4D14-824A-6F7FCFBD0702}" type="pres">
      <dgm:prSet presAssocID="{A7F3D95B-1733-465F-8DD3-B3E6DCC959BF}" presName="descText" presStyleLbl="revTx" presStyleIdx="0" presStyleCnt="0" custScaleY="162965">
        <dgm:presLayoutVars>
          <dgm:chMax val="0"/>
          <dgm:chPref val="0"/>
        </dgm:presLayoutVars>
      </dgm:prSet>
      <dgm:spPr/>
    </dgm:pt>
    <dgm:pt modelId="{F4DEB992-CD17-41C8-BA89-F3BF919275E2}" type="pres">
      <dgm:prSet presAssocID="{58DB5D06-D77E-47F2-8913-DC03C2290774}" presName="spacer" presStyleCnt="0"/>
      <dgm:spPr/>
    </dgm:pt>
    <dgm:pt modelId="{03C6CB29-76C5-4DF1-8BDC-2B2785BAF811}" type="pres">
      <dgm:prSet presAssocID="{48BA457B-CD50-4AAA-B79C-28809FDE22C7}" presName="item" presStyleCnt="0"/>
      <dgm:spPr/>
    </dgm:pt>
    <dgm:pt modelId="{69EA96F2-3E94-425D-87EC-C7CBFA23C7B2}" type="pres">
      <dgm:prSet presAssocID="{48BA457B-CD50-4AAA-B79C-28809FDE22C7}" presName="anchor" presStyleCnt="0"/>
      <dgm:spPr/>
    </dgm:pt>
    <dgm:pt modelId="{4956D398-B62C-4D87-B54D-28C9D4177627}" type="pres">
      <dgm:prSet presAssocID="{48BA457B-CD50-4AAA-B79C-28809FDE22C7}" presName="titleText" presStyleLbl="revTx" presStyleIdx="0" presStyleCnt="0">
        <dgm:presLayoutVars>
          <dgm:chMax val="0"/>
          <dgm:chPref val="0"/>
        </dgm:presLayoutVars>
      </dgm:prSet>
      <dgm:spPr/>
    </dgm:pt>
    <dgm:pt modelId="{6C77FB58-A55E-409A-9701-19BA83D3A4B0}" type="pres">
      <dgm:prSet presAssocID="{48BA457B-CD50-4AAA-B79C-28809FDE22C7}" presName="dot" presStyleLbl="node1NoLn" presStyleIdx="1" presStyleCnt="4"/>
      <dgm:spPr/>
    </dgm:pt>
    <dgm:pt modelId="{FB72776E-FAE9-4B53-A404-AB75347482CD}" type="pres">
      <dgm:prSet presAssocID="{48BA457B-CD50-4AAA-B79C-28809FDE22C7}" presName="descText" presStyleLbl="revTx" presStyleIdx="0" presStyleCnt="0" custScaleY="134288">
        <dgm:presLayoutVars>
          <dgm:chMax val="0"/>
          <dgm:chPref val="0"/>
        </dgm:presLayoutVars>
      </dgm:prSet>
      <dgm:spPr/>
    </dgm:pt>
    <dgm:pt modelId="{A323FCD2-B9A7-4075-8B93-CCD1BFD201DC}" type="pres">
      <dgm:prSet presAssocID="{69FE78BA-D1D7-4313-B64D-F37D8C0C82E4}" presName="spacer" presStyleCnt="0"/>
      <dgm:spPr/>
    </dgm:pt>
    <dgm:pt modelId="{08159513-9A4A-4D01-A68B-3174346BA79A}" type="pres">
      <dgm:prSet presAssocID="{E7D3E756-692F-47FA-A930-C6E1F9CA3395}" presName="item" presStyleCnt="0"/>
      <dgm:spPr/>
    </dgm:pt>
    <dgm:pt modelId="{0A3BE545-EDD8-45CB-8543-999320F9CFA6}" type="pres">
      <dgm:prSet presAssocID="{E7D3E756-692F-47FA-A930-C6E1F9CA3395}" presName="anchor" presStyleCnt="0"/>
      <dgm:spPr/>
    </dgm:pt>
    <dgm:pt modelId="{D4D3126C-E76A-4B85-BD4B-42335EDD4466}" type="pres">
      <dgm:prSet presAssocID="{E7D3E756-692F-47FA-A930-C6E1F9CA3395}" presName="titleText" presStyleLbl="revTx" presStyleIdx="0" presStyleCnt="0">
        <dgm:presLayoutVars>
          <dgm:chMax val="0"/>
          <dgm:chPref val="0"/>
        </dgm:presLayoutVars>
      </dgm:prSet>
      <dgm:spPr/>
    </dgm:pt>
    <dgm:pt modelId="{B7EE1606-2822-4B54-A59B-9369807AC650}" type="pres">
      <dgm:prSet presAssocID="{E7D3E756-692F-47FA-A930-C6E1F9CA3395}" presName="dot" presStyleLbl="node1NoLn" presStyleIdx="2" presStyleCnt="4"/>
      <dgm:spPr/>
    </dgm:pt>
    <dgm:pt modelId="{817ACFF5-E2A1-4E75-87B4-CEBDC3E64098}" type="pres">
      <dgm:prSet presAssocID="{E7D3E756-692F-47FA-A930-C6E1F9CA3395}" presName="descText" presStyleLbl="revTx" presStyleIdx="0" presStyleCnt="0" custScaleY="177038">
        <dgm:presLayoutVars>
          <dgm:chMax val="0"/>
          <dgm:chPref val="0"/>
        </dgm:presLayoutVars>
      </dgm:prSet>
      <dgm:spPr/>
    </dgm:pt>
    <dgm:pt modelId="{6F5C8CAA-A535-4E4F-96CF-905917AB5C37}" type="pres">
      <dgm:prSet presAssocID="{2529389A-8F03-4C15-9D46-2CB84F2F02C6}" presName="spacer" presStyleCnt="0"/>
      <dgm:spPr/>
    </dgm:pt>
    <dgm:pt modelId="{874E493E-59B7-4229-89C3-AE16A7FD83AB}" type="pres">
      <dgm:prSet presAssocID="{B0EE0102-93B7-4B1F-96D1-54C6B7E0C8AF}" presName="item" presStyleCnt="0"/>
      <dgm:spPr/>
    </dgm:pt>
    <dgm:pt modelId="{EE97D72D-8E59-4684-A590-550AF9A0F92D}" type="pres">
      <dgm:prSet presAssocID="{B0EE0102-93B7-4B1F-96D1-54C6B7E0C8AF}" presName="anchor" presStyleCnt="0"/>
      <dgm:spPr/>
    </dgm:pt>
    <dgm:pt modelId="{C8DCDB2B-194D-4095-90F2-84DCF0F84F6F}" type="pres">
      <dgm:prSet presAssocID="{B0EE0102-93B7-4B1F-96D1-54C6B7E0C8AF}" presName="titleText" presStyleLbl="revTx" presStyleIdx="0" presStyleCnt="0">
        <dgm:presLayoutVars>
          <dgm:chMax val="0"/>
          <dgm:chPref val="0"/>
        </dgm:presLayoutVars>
      </dgm:prSet>
      <dgm:spPr/>
    </dgm:pt>
    <dgm:pt modelId="{998B422B-E9E8-4C52-9236-C4CD2A5E01DE}" type="pres">
      <dgm:prSet presAssocID="{B0EE0102-93B7-4B1F-96D1-54C6B7E0C8AF}" presName="dot" presStyleLbl="node1NoLn" presStyleIdx="3" presStyleCnt="4"/>
      <dgm:spPr/>
    </dgm:pt>
    <dgm:pt modelId="{C19E1B01-0374-4CD3-8096-1C8CF08C3144}" type="pres">
      <dgm:prSet presAssocID="{B0EE0102-93B7-4B1F-96D1-54C6B7E0C8AF}" presName="descText" presStyleLbl="revTx" presStyleIdx="0" presStyleCnt="0">
        <dgm:presLayoutVars>
          <dgm:chMax val="0"/>
          <dgm:chPref val="0"/>
        </dgm:presLayoutVars>
      </dgm:prSet>
      <dgm:spPr/>
    </dgm:pt>
  </dgm:ptLst>
  <dgm:cxnLst>
    <dgm:cxn modelId="{83EB7104-EDB0-4BA7-9736-F6059DC8FC4F}" type="presOf" srcId="{041843E2-3494-435B-9748-45793BFDAC6F}" destId="{817ACFF5-E2A1-4E75-87B4-CEBDC3E64098}" srcOrd="0" destOrd="2" presId="urn:microsoft.com/office/officeart/2026/layout/SmallDotsVertical"/>
    <dgm:cxn modelId="{4454530A-171F-4386-ADFC-BD8BC669591B}" srcId="{48BA457B-CD50-4AAA-B79C-28809FDE22C7}" destId="{A78CEAD8-64C6-46A5-A7E4-F5DAE47E4C06}" srcOrd="0" destOrd="0" parTransId="{485C621B-8EF0-47D3-AC1B-0F889E0625B9}" sibTransId="{2CC8B226-2AA8-4185-8C12-306A85E60E20}"/>
    <dgm:cxn modelId="{84D64A12-8121-46AD-BC72-9A390204EA33}" srcId="{B0EE0102-93B7-4B1F-96D1-54C6B7E0C8AF}" destId="{AB01A575-703B-4F3F-96FF-3E749EC00834}" srcOrd="0" destOrd="0" parTransId="{1B0529BB-1968-49A8-AE92-733E3026F8AC}" sibTransId="{A9262A85-8A64-4F3D-9D66-08A050279C3B}"/>
    <dgm:cxn modelId="{0D06F52A-BD58-4442-9831-0958BF59F64F}" type="presOf" srcId="{A7F3D95B-1733-465F-8DD3-B3E6DCC959BF}" destId="{FB52FB39-2C0F-4263-ABF8-603ECE6F622E}" srcOrd="0" destOrd="0" presId="urn:microsoft.com/office/officeart/2026/layout/SmallDotsVertical"/>
    <dgm:cxn modelId="{D80F5F36-A0BE-45E5-B3B0-C269E3AACEC3}" srcId="{E7D3E756-692F-47FA-A930-C6E1F9CA3395}" destId="{041843E2-3494-435B-9748-45793BFDAC6F}" srcOrd="2" destOrd="0" parTransId="{444ABED1-CDC0-4C56-B47B-144E393F0156}" sibTransId="{B7D74043-7374-467E-BB9F-9A5ABB122B0A}"/>
    <dgm:cxn modelId="{22246447-AD82-47F4-A3E7-3CFE314A0757}" type="presOf" srcId="{AB663226-CB22-4CB2-A36D-6A9531900E16}" destId="{817ACFF5-E2A1-4E75-87B4-CEBDC3E64098}" srcOrd="0" destOrd="1" presId="urn:microsoft.com/office/officeart/2026/layout/SmallDotsVertical"/>
    <dgm:cxn modelId="{AE0BD947-BB8B-4980-9ABE-9FF32AEBC883}" type="presOf" srcId="{E56EC465-6077-4528-80F5-4AABC6A7EE98}" destId="{C6351F1D-8744-4D14-824A-6F7FCFBD0702}" srcOrd="0" destOrd="0" presId="urn:microsoft.com/office/officeart/2026/layout/SmallDotsVertical"/>
    <dgm:cxn modelId="{F8182650-8006-4AD7-B45A-7F59686F8DE5}" type="presOf" srcId="{A78CEAD8-64C6-46A5-A7E4-F5DAE47E4C06}" destId="{FB72776E-FAE9-4B53-A404-AB75347482CD}" srcOrd="0" destOrd="0" presId="urn:microsoft.com/office/officeart/2026/layout/SmallDotsVertical"/>
    <dgm:cxn modelId="{6F23FC72-EDC7-4FF9-B72B-CF684F5E8B1B}" type="presOf" srcId="{48BA457B-CD50-4AAA-B79C-28809FDE22C7}" destId="{4956D398-B62C-4D87-B54D-28C9D4177627}" srcOrd="0" destOrd="0" presId="urn:microsoft.com/office/officeart/2026/layout/SmallDotsVertical"/>
    <dgm:cxn modelId="{DACBF756-8A51-4B1E-BA9F-123ADE243331}" srcId="{A7F3D95B-1733-465F-8DD3-B3E6DCC959BF}" destId="{E56EC465-6077-4528-80F5-4AABC6A7EE98}" srcOrd="0" destOrd="0" parTransId="{520E07B9-EF01-498E-B98B-310AA4F6C5FE}" sibTransId="{4BB19EC2-41F6-4AB2-9171-64A0B14F8D0F}"/>
    <dgm:cxn modelId="{6979707A-0A8F-41AF-B061-429689C35414}" srcId="{A3CCD79B-0560-4031-B4E7-171B57A402A6}" destId="{E7D3E756-692F-47FA-A930-C6E1F9CA3395}" srcOrd="2" destOrd="0" parTransId="{A36A3099-CC52-4D39-90A3-9FA45CCD3EBF}" sibTransId="{2529389A-8F03-4C15-9D46-2CB84F2F02C6}"/>
    <dgm:cxn modelId="{7B22BC8A-6A06-48D3-9F91-848134D9B246}" srcId="{A3CCD79B-0560-4031-B4E7-171B57A402A6}" destId="{B0EE0102-93B7-4B1F-96D1-54C6B7E0C8AF}" srcOrd="3" destOrd="0" parTransId="{DC6201D0-D419-4552-B3BA-EDFE44CC7B7E}" sibTransId="{4FB06A7A-0842-4684-8EE7-60696D7E2DA2}"/>
    <dgm:cxn modelId="{50FBC894-A052-4E2A-A344-21BE4809E18B}" type="presOf" srcId="{E7D3E756-692F-47FA-A930-C6E1F9CA3395}" destId="{D4D3126C-E76A-4B85-BD4B-42335EDD4466}" srcOrd="0" destOrd="0" presId="urn:microsoft.com/office/officeart/2026/layout/SmallDotsVertical"/>
    <dgm:cxn modelId="{34B22897-2D46-4E11-82DA-727F34CF4C86}" srcId="{A3CCD79B-0560-4031-B4E7-171B57A402A6}" destId="{A7F3D95B-1733-465F-8DD3-B3E6DCC959BF}" srcOrd="0" destOrd="0" parTransId="{66B899FD-AF88-41F7-9534-715E4537DF42}" sibTransId="{58DB5D06-D77E-47F2-8913-DC03C2290774}"/>
    <dgm:cxn modelId="{AF826F9A-75E2-4370-8359-8206B82D5405}" srcId="{E7D3E756-692F-47FA-A930-C6E1F9CA3395}" destId="{D644594F-174C-43B8-8FCC-1D272BE5FFDC}" srcOrd="0" destOrd="0" parTransId="{C4B391A4-7752-4DE2-AC87-D7F19A04C6FC}" sibTransId="{11F52A6E-0D64-4026-B5D7-C7AB1D136EE3}"/>
    <dgm:cxn modelId="{42EB8BB7-7417-47F1-B09D-40699F56AD4B}" type="presOf" srcId="{AB01A575-703B-4F3F-96FF-3E749EC00834}" destId="{C19E1B01-0374-4CD3-8096-1C8CF08C3144}" srcOrd="0" destOrd="0" presId="urn:microsoft.com/office/officeart/2026/layout/SmallDotsVertical"/>
    <dgm:cxn modelId="{912D6FCB-15AB-4150-98F9-5C8C33CF077F}" type="presOf" srcId="{D644594F-174C-43B8-8FCC-1D272BE5FFDC}" destId="{817ACFF5-E2A1-4E75-87B4-CEBDC3E64098}" srcOrd="0" destOrd="0" presId="urn:microsoft.com/office/officeart/2026/layout/SmallDotsVertical"/>
    <dgm:cxn modelId="{2ED32AD9-C9D4-49AF-B7F6-2C9F62C869E8}" type="presOf" srcId="{B0EE0102-93B7-4B1F-96D1-54C6B7E0C8AF}" destId="{C8DCDB2B-194D-4095-90F2-84DCF0F84F6F}" srcOrd="0" destOrd="0" presId="urn:microsoft.com/office/officeart/2026/layout/SmallDotsVertical"/>
    <dgm:cxn modelId="{6950C3E6-83B9-4E8C-901C-8F194B078125}" srcId="{A3CCD79B-0560-4031-B4E7-171B57A402A6}" destId="{48BA457B-CD50-4AAA-B79C-28809FDE22C7}" srcOrd="1" destOrd="0" parTransId="{DCEB0A9A-D595-4BA2-B7E7-A7F1F616C605}" sibTransId="{69FE78BA-D1D7-4313-B64D-F37D8C0C82E4}"/>
    <dgm:cxn modelId="{737723EA-395C-4B8A-88AB-5FB69EBBB02B}" srcId="{E7D3E756-692F-47FA-A930-C6E1F9CA3395}" destId="{AB663226-CB22-4CB2-A36D-6A9531900E16}" srcOrd="1" destOrd="0" parTransId="{DCB1C8D5-9B7F-425D-8BB0-59896E681952}" sibTransId="{BDD1A868-F66D-4852-A63E-BCFA6A96FA8D}"/>
    <dgm:cxn modelId="{729E40F9-387C-4446-8C41-0C45E9908C0E}" type="presOf" srcId="{A3CCD79B-0560-4031-B4E7-171B57A402A6}" destId="{01B93DFC-D9B5-4BD4-8175-EA2021FB242F}" srcOrd="0" destOrd="0" presId="urn:microsoft.com/office/officeart/2026/layout/SmallDotsVertical"/>
    <dgm:cxn modelId="{48711B28-2907-4002-93BF-A72E51D64700}" type="presParOf" srcId="{01B93DFC-D9B5-4BD4-8175-EA2021FB242F}" destId="{EBD1CD37-050E-4DCA-A9E4-37B0D871CE6A}" srcOrd="0" destOrd="0" presId="urn:microsoft.com/office/officeart/2026/layout/SmallDotsVertical"/>
    <dgm:cxn modelId="{E97CC2D4-934D-46D6-8D5F-5527EC9B0195}" type="presParOf" srcId="{01B93DFC-D9B5-4BD4-8175-EA2021FB242F}" destId="{519AFC7F-A544-4A86-951D-4DE6712D343B}" srcOrd="1" destOrd="0" presId="urn:microsoft.com/office/officeart/2026/layout/SmallDotsVertical"/>
    <dgm:cxn modelId="{B285438F-0AF8-4201-8507-5CB9CC09C054}" type="presParOf" srcId="{519AFC7F-A544-4A86-951D-4DE6712D343B}" destId="{16969B7A-03FE-4898-BFAF-D345C3EEEF58}" srcOrd="0" destOrd="0" presId="urn:microsoft.com/office/officeart/2026/layout/SmallDotsVertical"/>
    <dgm:cxn modelId="{A8D080D5-2C34-47E8-8983-7F3291055A18}" type="presParOf" srcId="{16969B7A-03FE-4898-BFAF-D345C3EEEF58}" destId="{DCC40982-0B50-49DF-8A63-426335B3760A}" srcOrd="0" destOrd="0" presId="urn:microsoft.com/office/officeart/2026/layout/SmallDotsVertical"/>
    <dgm:cxn modelId="{A5E61865-2E73-42B8-B473-3DF9C0A4A0FB}" type="presParOf" srcId="{16969B7A-03FE-4898-BFAF-D345C3EEEF58}" destId="{FB52FB39-2C0F-4263-ABF8-603ECE6F622E}" srcOrd="1" destOrd="0" presId="urn:microsoft.com/office/officeart/2026/layout/SmallDotsVertical"/>
    <dgm:cxn modelId="{0D9144EF-64B4-4217-B21B-3AF44D40A4DC}" type="presParOf" srcId="{16969B7A-03FE-4898-BFAF-D345C3EEEF58}" destId="{CB4A1D92-1300-4535-A947-80EBC14A22D0}" srcOrd="2" destOrd="0" presId="urn:microsoft.com/office/officeart/2026/layout/SmallDotsVertical"/>
    <dgm:cxn modelId="{337D54C9-0152-4E17-861C-0DC4DBC9BE8F}" type="presParOf" srcId="{16969B7A-03FE-4898-BFAF-D345C3EEEF58}" destId="{C6351F1D-8744-4D14-824A-6F7FCFBD0702}" srcOrd="3" destOrd="0" presId="urn:microsoft.com/office/officeart/2026/layout/SmallDotsVertical"/>
    <dgm:cxn modelId="{CF460CE2-5460-4AD5-854B-48A51AA391E2}" type="presParOf" srcId="{519AFC7F-A544-4A86-951D-4DE6712D343B}" destId="{F4DEB992-CD17-41C8-BA89-F3BF919275E2}" srcOrd="1" destOrd="0" presId="urn:microsoft.com/office/officeart/2026/layout/SmallDotsVertical"/>
    <dgm:cxn modelId="{CE49A111-4811-4252-B4D6-A9C38BBC8075}" type="presParOf" srcId="{519AFC7F-A544-4A86-951D-4DE6712D343B}" destId="{03C6CB29-76C5-4DF1-8BDC-2B2785BAF811}" srcOrd="2" destOrd="0" presId="urn:microsoft.com/office/officeart/2026/layout/SmallDotsVertical"/>
    <dgm:cxn modelId="{7280BCF4-DC41-4719-8F60-65D3342B3DE6}" type="presParOf" srcId="{03C6CB29-76C5-4DF1-8BDC-2B2785BAF811}" destId="{69EA96F2-3E94-425D-87EC-C7CBFA23C7B2}" srcOrd="0" destOrd="0" presId="urn:microsoft.com/office/officeart/2026/layout/SmallDotsVertical"/>
    <dgm:cxn modelId="{89687427-B587-4EEB-A0F4-9F7502F4C8A4}" type="presParOf" srcId="{03C6CB29-76C5-4DF1-8BDC-2B2785BAF811}" destId="{4956D398-B62C-4D87-B54D-28C9D4177627}" srcOrd="1" destOrd="0" presId="urn:microsoft.com/office/officeart/2026/layout/SmallDotsVertical"/>
    <dgm:cxn modelId="{9F6E3D80-0F34-46E3-A028-E62011BD23CD}" type="presParOf" srcId="{03C6CB29-76C5-4DF1-8BDC-2B2785BAF811}" destId="{6C77FB58-A55E-409A-9701-19BA83D3A4B0}" srcOrd="2" destOrd="0" presId="urn:microsoft.com/office/officeart/2026/layout/SmallDotsVertical"/>
    <dgm:cxn modelId="{58A54202-6321-4C73-95CD-AFF0A21FDC7F}" type="presParOf" srcId="{03C6CB29-76C5-4DF1-8BDC-2B2785BAF811}" destId="{FB72776E-FAE9-4B53-A404-AB75347482CD}" srcOrd="3" destOrd="0" presId="urn:microsoft.com/office/officeart/2026/layout/SmallDotsVertical"/>
    <dgm:cxn modelId="{66F70726-FDF6-4B57-9815-AD140007C68E}" type="presParOf" srcId="{519AFC7F-A544-4A86-951D-4DE6712D343B}" destId="{A323FCD2-B9A7-4075-8B93-CCD1BFD201DC}" srcOrd="3" destOrd="0" presId="urn:microsoft.com/office/officeart/2026/layout/SmallDotsVertical"/>
    <dgm:cxn modelId="{1DAA1652-302A-4D9B-AABE-2FF4CCB2F3B7}" type="presParOf" srcId="{519AFC7F-A544-4A86-951D-4DE6712D343B}" destId="{08159513-9A4A-4D01-A68B-3174346BA79A}" srcOrd="4" destOrd="0" presId="urn:microsoft.com/office/officeart/2026/layout/SmallDotsVertical"/>
    <dgm:cxn modelId="{96C6345C-C0EF-402F-841E-470912B8DF9F}" type="presParOf" srcId="{08159513-9A4A-4D01-A68B-3174346BA79A}" destId="{0A3BE545-EDD8-45CB-8543-999320F9CFA6}" srcOrd="0" destOrd="0" presId="urn:microsoft.com/office/officeart/2026/layout/SmallDotsVertical"/>
    <dgm:cxn modelId="{16CDA548-7F9F-453D-9E18-BE1374581FF9}" type="presParOf" srcId="{08159513-9A4A-4D01-A68B-3174346BA79A}" destId="{D4D3126C-E76A-4B85-BD4B-42335EDD4466}" srcOrd="1" destOrd="0" presId="urn:microsoft.com/office/officeart/2026/layout/SmallDotsVertical"/>
    <dgm:cxn modelId="{E0FE5126-5C11-46DD-BCBA-E54A851B99AC}" type="presParOf" srcId="{08159513-9A4A-4D01-A68B-3174346BA79A}" destId="{B7EE1606-2822-4B54-A59B-9369807AC650}" srcOrd="2" destOrd="0" presId="urn:microsoft.com/office/officeart/2026/layout/SmallDotsVertical"/>
    <dgm:cxn modelId="{21E2D19A-75B2-4B3B-9451-A7E6DD683518}" type="presParOf" srcId="{08159513-9A4A-4D01-A68B-3174346BA79A}" destId="{817ACFF5-E2A1-4E75-87B4-CEBDC3E64098}" srcOrd="3" destOrd="0" presId="urn:microsoft.com/office/officeart/2026/layout/SmallDotsVertical"/>
    <dgm:cxn modelId="{810109DC-8CA8-47A6-9BEC-97C249BF87F1}" type="presParOf" srcId="{519AFC7F-A544-4A86-951D-4DE6712D343B}" destId="{6F5C8CAA-A535-4E4F-96CF-905917AB5C37}" srcOrd="5" destOrd="0" presId="urn:microsoft.com/office/officeart/2026/layout/SmallDotsVertical"/>
    <dgm:cxn modelId="{A960B9A7-8873-44C8-931F-EB1AD7945868}" type="presParOf" srcId="{519AFC7F-A544-4A86-951D-4DE6712D343B}" destId="{874E493E-59B7-4229-89C3-AE16A7FD83AB}" srcOrd="6" destOrd="0" presId="urn:microsoft.com/office/officeart/2026/layout/SmallDotsVertical"/>
    <dgm:cxn modelId="{DE0986D5-94B9-4C3C-8CC4-204367345673}" type="presParOf" srcId="{874E493E-59B7-4229-89C3-AE16A7FD83AB}" destId="{EE97D72D-8E59-4684-A590-550AF9A0F92D}" srcOrd="0" destOrd="0" presId="urn:microsoft.com/office/officeart/2026/layout/SmallDotsVertical"/>
    <dgm:cxn modelId="{F92CAD64-0D70-4797-99DE-1AEA3C7BB47B}" type="presParOf" srcId="{874E493E-59B7-4229-89C3-AE16A7FD83AB}" destId="{C8DCDB2B-194D-4095-90F2-84DCF0F84F6F}" srcOrd="1" destOrd="0" presId="urn:microsoft.com/office/officeart/2026/layout/SmallDotsVertical"/>
    <dgm:cxn modelId="{8A1D70D1-1F27-42EF-BC74-0D1855B39771}" type="presParOf" srcId="{874E493E-59B7-4229-89C3-AE16A7FD83AB}" destId="{998B422B-E9E8-4C52-9236-C4CD2A5E01DE}" srcOrd="2" destOrd="0" presId="urn:microsoft.com/office/officeart/2026/layout/SmallDotsVertical"/>
    <dgm:cxn modelId="{6ABCBE30-4C1D-481B-B7B7-D94D292FC6E3}" type="presParOf" srcId="{874E493E-59B7-4229-89C3-AE16A7FD83AB}" destId="{C19E1B01-0374-4CD3-8096-1C8CF08C3144}" srcOrd="3" destOrd="0" presId="urn:microsoft.com/office/officeart/2026/layout/SmallDotsVertical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61937EE-D568-41FB-A6B5-C65C5C72A0A4}" type="doc">
      <dgm:prSet loTypeId="urn:microsoft.com/office/officeart/2026/layout/TextCardShortLine" loCatId="textcard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597AE9E-2396-46A1-BFA5-FCB71B72FBE0}">
      <dgm:prSet phldrT="Title" phldr="0" custT="1"/>
      <dgm:spPr/>
      <dgm:t>
        <a:bodyPr/>
        <a:lstStyle/>
        <a:p>
          <a:pPr>
            <a:defRPr b="1"/>
          </a:pPr>
          <a:r>
            <a:rPr lang="en-US" sz="3200" dirty="0"/>
            <a:t>Ahmed Javaid</a:t>
          </a:r>
        </a:p>
      </dgm:t>
    </dgm:pt>
    <dgm:pt modelId="{FB06AC8B-1B6A-4F93-AE5B-75EA30011206}" type="parTrans" cxnId="{8CF800FA-476A-4851-9715-474DDDED4973}">
      <dgm:prSet/>
      <dgm:spPr/>
      <dgm:t>
        <a:bodyPr/>
        <a:lstStyle/>
        <a:p>
          <a:endParaRPr lang="en-US"/>
        </a:p>
      </dgm:t>
    </dgm:pt>
    <dgm:pt modelId="{479F2C85-4505-4859-A741-98116C0ECA7F}" type="sibTrans" cxnId="{8CF800FA-476A-4851-9715-474DDDED4973}">
      <dgm:prSet/>
      <dgm:spPr/>
      <dgm:t>
        <a:bodyPr/>
        <a:lstStyle/>
        <a:p>
          <a:endParaRPr lang="en-US"/>
        </a:p>
      </dgm:t>
    </dgm:pt>
    <dgm:pt modelId="{50EF1667-C492-4956-9971-C7FE2E8A61D5}">
      <dgm:prSet phldrT="Description" custT="1"/>
      <dgm:spPr/>
      <dgm:t>
        <a:bodyPr/>
        <a:lstStyle/>
        <a:p>
          <a:r>
            <a:rPr lang="en-US" sz="1800" dirty="0"/>
            <a:t>point-in-time harness</a:t>
          </a:r>
        </a:p>
      </dgm:t>
    </dgm:pt>
    <dgm:pt modelId="{E7DFDBC4-2C12-457A-A944-7E7344A39241}" type="parTrans" cxnId="{E747BAB0-2E59-458B-B0AE-5E9331037008}">
      <dgm:prSet/>
      <dgm:spPr/>
      <dgm:t>
        <a:bodyPr/>
        <a:lstStyle/>
        <a:p>
          <a:endParaRPr lang="en-US"/>
        </a:p>
      </dgm:t>
    </dgm:pt>
    <dgm:pt modelId="{4FE8B97A-97AE-4B2A-AD3C-D5F6065F4158}" type="sibTrans" cxnId="{E747BAB0-2E59-458B-B0AE-5E9331037008}">
      <dgm:prSet/>
      <dgm:spPr/>
      <dgm:t>
        <a:bodyPr/>
        <a:lstStyle/>
        <a:p>
          <a:endParaRPr lang="en-US"/>
        </a:p>
      </dgm:t>
    </dgm:pt>
    <dgm:pt modelId="{3A197DEC-0106-4A97-9177-FA8F829CC75C}">
      <dgm:prSet phldrT="Title" phldr="0" custT="1"/>
      <dgm:spPr/>
      <dgm:t>
        <a:bodyPr/>
        <a:lstStyle/>
        <a:p>
          <a:pPr>
            <a:defRPr b="1"/>
          </a:pPr>
          <a:r>
            <a:rPr lang="en-US" sz="3200" dirty="0"/>
            <a:t>Rafay Ul Haq</a:t>
          </a:r>
        </a:p>
      </dgm:t>
    </dgm:pt>
    <dgm:pt modelId="{FEAF041A-B711-45DE-9F28-0954D5BC7AC1}" type="parTrans" cxnId="{B3E18B4F-8AED-4643-9A01-AF8E74D1B0EB}">
      <dgm:prSet/>
      <dgm:spPr/>
      <dgm:t>
        <a:bodyPr/>
        <a:lstStyle/>
        <a:p>
          <a:endParaRPr lang="en-US"/>
        </a:p>
      </dgm:t>
    </dgm:pt>
    <dgm:pt modelId="{D4FC650B-C17C-4A64-BC80-11C14062D78A}" type="sibTrans" cxnId="{B3E18B4F-8AED-4643-9A01-AF8E74D1B0EB}">
      <dgm:prSet/>
      <dgm:spPr/>
      <dgm:t>
        <a:bodyPr/>
        <a:lstStyle/>
        <a:p>
          <a:endParaRPr lang="en-US"/>
        </a:p>
      </dgm:t>
    </dgm:pt>
    <dgm:pt modelId="{AD81AD1E-2472-4C3F-9CB1-763525F4E611}">
      <dgm:prSet phldrT="Description" custT="1"/>
      <dgm:spPr/>
      <dgm:t>
        <a:bodyPr/>
        <a:lstStyle/>
        <a:p>
          <a:r>
            <a:rPr lang="en-US" sz="1800" dirty="0"/>
            <a:t>risk profiling</a:t>
          </a:r>
        </a:p>
      </dgm:t>
    </dgm:pt>
    <dgm:pt modelId="{BC0FC5C5-23B3-4C90-A24A-1171D1A5CE28}" type="parTrans" cxnId="{EA819D83-9E15-4B6E-9C70-266E3E1BDC7D}">
      <dgm:prSet/>
      <dgm:spPr/>
      <dgm:t>
        <a:bodyPr/>
        <a:lstStyle/>
        <a:p>
          <a:endParaRPr lang="en-US"/>
        </a:p>
      </dgm:t>
    </dgm:pt>
    <dgm:pt modelId="{B0231DA6-A7F2-4552-9FD8-201EF672BF03}" type="sibTrans" cxnId="{EA819D83-9E15-4B6E-9C70-266E3E1BDC7D}">
      <dgm:prSet/>
      <dgm:spPr/>
      <dgm:t>
        <a:bodyPr/>
        <a:lstStyle/>
        <a:p>
          <a:endParaRPr lang="en-US"/>
        </a:p>
      </dgm:t>
    </dgm:pt>
    <dgm:pt modelId="{362F4EE6-FC9C-4D9C-AA00-D6A07325C802}">
      <dgm:prSet phldrT="Title" phldr="0" custT="1"/>
      <dgm:spPr/>
      <dgm:t>
        <a:bodyPr/>
        <a:lstStyle/>
        <a:p>
          <a:pPr>
            <a:defRPr b="1"/>
          </a:pPr>
          <a:r>
            <a:rPr lang="en-US" sz="3200" dirty="0"/>
            <a:t>Soban Ahmed</a:t>
          </a:r>
        </a:p>
      </dgm:t>
    </dgm:pt>
    <dgm:pt modelId="{B7EC4D22-0E8C-4B2C-AADE-68ABBD5B21FA}" type="parTrans" cxnId="{F7126426-1421-4B81-95BD-6FF4DEBA0602}">
      <dgm:prSet/>
      <dgm:spPr/>
      <dgm:t>
        <a:bodyPr/>
        <a:lstStyle/>
        <a:p>
          <a:endParaRPr lang="en-US"/>
        </a:p>
      </dgm:t>
    </dgm:pt>
    <dgm:pt modelId="{E18437E0-61BB-429D-8166-8483C7170FCB}" type="sibTrans" cxnId="{F7126426-1421-4B81-95BD-6FF4DEBA0602}">
      <dgm:prSet/>
      <dgm:spPr/>
      <dgm:t>
        <a:bodyPr/>
        <a:lstStyle/>
        <a:p>
          <a:endParaRPr lang="en-US"/>
        </a:p>
      </dgm:t>
    </dgm:pt>
    <dgm:pt modelId="{97508EDE-5D20-4F02-B05E-71F3A91067C9}">
      <dgm:prSet phldrT="Description" custT="1"/>
      <dgm:spPr/>
      <dgm:t>
        <a:bodyPr/>
        <a:lstStyle/>
        <a:p>
          <a:r>
            <a:rPr lang="en-US" sz="1800" dirty="0"/>
            <a:t>decision engine</a:t>
          </a:r>
        </a:p>
      </dgm:t>
    </dgm:pt>
    <dgm:pt modelId="{B530F2E7-630C-44FA-8764-9D4D00894EEF}" type="parTrans" cxnId="{B9199FDF-3949-462C-A069-EA21B8B86E4B}">
      <dgm:prSet/>
      <dgm:spPr/>
      <dgm:t>
        <a:bodyPr/>
        <a:lstStyle/>
        <a:p>
          <a:endParaRPr lang="en-US"/>
        </a:p>
      </dgm:t>
    </dgm:pt>
    <dgm:pt modelId="{D618C279-32B3-4C4C-B27D-E09C522DC1D0}" type="sibTrans" cxnId="{B9199FDF-3949-462C-A069-EA21B8B86E4B}">
      <dgm:prSet/>
      <dgm:spPr/>
      <dgm:t>
        <a:bodyPr/>
        <a:lstStyle/>
        <a:p>
          <a:endParaRPr lang="en-US"/>
        </a:p>
      </dgm:t>
    </dgm:pt>
    <dgm:pt modelId="{572CD8D0-BB78-4812-95E3-212497D5B68E}">
      <dgm:prSet custT="1"/>
      <dgm:spPr/>
      <dgm:t>
        <a:bodyPr/>
        <a:lstStyle/>
        <a:p>
          <a:r>
            <a:rPr lang="en-US" sz="1800"/>
            <a:t>leakage tests</a:t>
          </a:r>
          <a:endParaRPr lang="en-US" sz="1800" dirty="0"/>
        </a:p>
      </dgm:t>
    </dgm:pt>
    <dgm:pt modelId="{1CC44BA5-A5BE-4038-B67E-AB997BE8DFE1}" type="parTrans" cxnId="{77FD3A99-257A-4C1E-A5F6-9E59281AA371}">
      <dgm:prSet/>
      <dgm:spPr/>
      <dgm:t>
        <a:bodyPr/>
        <a:lstStyle/>
        <a:p>
          <a:endParaRPr lang="en-US"/>
        </a:p>
      </dgm:t>
    </dgm:pt>
    <dgm:pt modelId="{61DDFDD9-7966-45A3-8796-A2B396CCF1C6}" type="sibTrans" cxnId="{77FD3A99-257A-4C1E-A5F6-9E59281AA371}">
      <dgm:prSet/>
      <dgm:spPr/>
      <dgm:t>
        <a:bodyPr/>
        <a:lstStyle/>
        <a:p>
          <a:endParaRPr lang="en-US"/>
        </a:p>
      </dgm:t>
    </dgm:pt>
    <dgm:pt modelId="{3FA2C298-6D1E-4AE9-9EB6-54B505711D86}">
      <dgm:prSet custT="1"/>
      <dgm:spPr/>
      <dgm:t>
        <a:bodyPr/>
        <a:lstStyle/>
        <a:p>
          <a:r>
            <a:rPr lang="en-US" sz="1800">
              <a:solidFill>
                <a:srgbClr val="1B2A38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dual-timestamp schema</a:t>
          </a:r>
          <a:endParaRPr lang="en-US" sz="1800" dirty="0"/>
        </a:p>
      </dgm:t>
    </dgm:pt>
    <dgm:pt modelId="{27501C72-5A01-49A0-B3D2-89B553C05FA9}" type="parTrans" cxnId="{000F52F7-46EB-44F0-9FA9-48CA21765B0B}">
      <dgm:prSet/>
      <dgm:spPr/>
      <dgm:t>
        <a:bodyPr/>
        <a:lstStyle/>
        <a:p>
          <a:endParaRPr lang="en-US"/>
        </a:p>
      </dgm:t>
    </dgm:pt>
    <dgm:pt modelId="{D048DD3E-6BF0-4334-BAA4-D797E77A8798}" type="sibTrans" cxnId="{000F52F7-46EB-44F0-9FA9-48CA21765B0B}">
      <dgm:prSet/>
      <dgm:spPr/>
      <dgm:t>
        <a:bodyPr/>
        <a:lstStyle/>
        <a:p>
          <a:endParaRPr lang="en-US"/>
        </a:p>
      </dgm:t>
    </dgm:pt>
    <dgm:pt modelId="{99B4065F-0083-47EE-A802-53966480206E}">
      <dgm:prSet custT="1"/>
      <dgm:spPr/>
      <dgm:t>
        <a:bodyPr/>
        <a:lstStyle/>
        <a:p>
          <a:r>
            <a:rPr lang="en-US" sz="1800" dirty="0"/>
            <a:t>parity test</a:t>
          </a:r>
        </a:p>
      </dgm:t>
    </dgm:pt>
    <dgm:pt modelId="{E8C62A41-CB24-4FB5-B77F-3F959537E18F}" type="parTrans" cxnId="{394E17D9-306C-423C-ADA3-8ACF719B7DD4}">
      <dgm:prSet/>
      <dgm:spPr/>
      <dgm:t>
        <a:bodyPr/>
        <a:lstStyle/>
        <a:p>
          <a:endParaRPr lang="en-US"/>
        </a:p>
      </dgm:t>
    </dgm:pt>
    <dgm:pt modelId="{1C63665C-1EA2-410C-A51F-F5AA09339492}" type="sibTrans" cxnId="{394E17D9-306C-423C-ADA3-8ACF719B7DD4}">
      <dgm:prSet/>
      <dgm:spPr/>
      <dgm:t>
        <a:bodyPr/>
        <a:lstStyle/>
        <a:p>
          <a:endParaRPr lang="en-US"/>
        </a:p>
      </dgm:t>
    </dgm:pt>
    <dgm:pt modelId="{F9944769-0F46-4052-B4B6-C973A3E01C1E}">
      <dgm:prSet custT="1"/>
      <dgm:spPr/>
      <dgm:t>
        <a:bodyPr/>
        <a:lstStyle/>
        <a:p>
          <a:r>
            <a:rPr lang="en-US" sz="1800" dirty="0"/>
            <a:t>deployment</a:t>
          </a:r>
        </a:p>
      </dgm:t>
    </dgm:pt>
    <dgm:pt modelId="{50C04C97-4C83-4E99-9CEE-A947800017C3}" type="parTrans" cxnId="{D19EBDDD-B0F2-4CB1-806E-69C4FC86BEE8}">
      <dgm:prSet/>
      <dgm:spPr/>
      <dgm:t>
        <a:bodyPr/>
        <a:lstStyle/>
        <a:p>
          <a:endParaRPr lang="en-US"/>
        </a:p>
      </dgm:t>
    </dgm:pt>
    <dgm:pt modelId="{F9325BEB-E743-46B6-8B24-ACE799391065}" type="sibTrans" cxnId="{D19EBDDD-B0F2-4CB1-806E-69C4FC86BEE8}">
      <dgm:prSet/>
      <dgm:spPr/>
      <dgm:t>
        <a:bodyPr/>
        <a:lstStyle/>
        <a:p>
          <a:endParaRPr lang="en-US"/>
        </a:p>
      </dgm:t>
    </dgm:pt>
    <dgm:pt modelId="{08F2C182-29E0-476C-AD0F-773CD94959C4}">
      <dgm:prSet custT="1"/>
      <dgm:spPr/>
      <dgm:t>
        <a:bodyPr/>
        <a:lstStyle/>
        <a:p>
          <a:r>
            <a:rPr lang="en-US" sz="1800"/>
            <a:t>sentiment pipeline</a:t>
          </a:r>
          <a:endParaRPr lang="en-US" sz="1800" dirty="0"/>
        </a:p>
      </dgm:t>
    </dgm:pt>
    <dgm:pt modelId="{F78B7B43-8DB6-455C-B90F-7BCE25188F00}" type="parTrans" cxnId="{8045AA47-0C58-4B13-A6EA-18D9F32786F3}">
      <dgm:prSet/>
      <dgm:spPr/>
      <dgm:t>
        <a:bodyPr/>
        <a:lstStyle/>
        <a:p>
          <a:endParaRPr lang="en-US"/>
        </a:p>
      </dgm:t>
    </dgm:pt>
    <dgm:pt modelId="{A489C22F-152A-433D-A2EC-C5A843FA38E9}" type="sibTrans" cxnId="{8045AA47-0C58-4B13-A6EA-18D9F32786F3}">
      <dgm:prSet/>
      <dgm:spPr/>
      <dgm:t>
        <a:bodyPr/>
        <a:lstStyle/>
        <a:p>
          <a:endParaRPr lang="en-US"/>
        </a:p>
      </dgm:t>
    </dgm:pt>
    <dgm:pt modelId="{8CC902CB-55D3-4F07-96E8-35A8CDCFD05C}">
      <dgm:prSet custT="1"/>
      <dgm:spPr/>
      <dgm:t>
        <a:bodyPr/>
        <a:lstStyle/>
        <a:p>
          <a:r>
            <a:rPr lang="en-US" sz="1800" dirty="0"/>
            <a:t>degraded operation</a:t>
          </a:r>
        </a:p>
      </dgm:t>
    </dgm:pt>
    <dgm:pt modelId="{51CDA27D-133A-4C01-879C-E098512574D3}" type="parTrans" cxnId="{72295E0A-3409-4A8F-B706-F69C05398092}">
      <dgm:prSet/>
      <dgm:spPr/>
      <dgm:t>
        <a:bodyPr/>
        <a:lstStyle/>
        <a:p>
          <a:endParaRPr lang="en-US"/>
        </a:p>
      </dgm:t>
    </dgm:pt>
    <dgm:pt modelId="{4BE3BFA6-A747-4B7B-A42B-FA4321DB87BD}" type="sibTrans" cxnId="{72295E0A-3409-4A8F-B706-F69C05398092}">
      <dgm:prSet/>
      <dgm:spPr/>
      <dgm:t>
        <a:bodyPr/>
        <a:lstStyle/>
        <a:p>
          <a:endParaRPr lang="en-US"/>
        </a:p>
      </dgm:t>
    </dgm:pt>
    <dgm:pt modelId="{C0BFD7C8-67B5-4DDD-B678-1B83735DD2DA}">
      <dgm:prSet custT="1"/>
      <dgm:spPr/>
      <dgm:t>
        <a:bodyPr/>
        <a:lstStyle/>
        <a:p>
          <a:r>
            <a:rPr lang="en-US" sz="1800"/>
            <a:t>acceptance testing</a:t>
          </a:r>
          <a:endParaRPr lang="en-US" sz="1800" dirty="0"/>
        </a:p>
      </dgm:t>
    </dgm:pt>
    <dgm:pt modelId="{22D1DE9E-6617-4D06-8AE8-D168727463A1}" type="parTrans" cxnId="{A32F0FEE-662D-4A53-858B-C6B1FA2A013F}">
      <dgm:prSet/>
      <dgm:spPr/>
      <dgm:t>
        <a:bodyPr/>
        <a:lstStyle/>
        <a:p>
          <a:endParaRPr lang="en-US"/>
        </a:p>
      </dgm:t>
    </dgm:pt>
    <dgm:pt modelId="{0121E772-EE56-4ECC-9E1C-B89C672111DC}" type="sibTrans" cxnId="{A32F0FEE-662D-4A53-858B-C6B1FA2A013F}">
      <dgm:prSet/>
      <dgm:spPr/>
      <dgm:t>
        <a:bodyPr/>
        <a:lstStyle/>
        <a:p>
          <a:endParaRPr lang="en-US"/>
        </a:p>
      </dgm:t>
    </dgm:pt>
    <dgm:pt modelId="{02C176BA-4E9A-4229-8271-90EB99294E71}">
      <dgm:prSet custT="1"/>
      <dgm:spPr/>
      <dgm:t>
        <a:bodyPr/>
        <a:lstStyle/>
        <a:p>
          <a:r>
            <a:rPr lang="en-US" sz="1800" dirty="0"/>
            <a:t>frontend</a:t>
          </a:r>
        </a:p>
      </dgm:t>
    </dgm:pt>
    <dgm:pt modelId="{8EB67D51-5122-4789-965E-B8500413C510}" type="parTrans" cxnId="{CB1BB547-B5B5-4ABA-900A-4CC004E226A1}">
      <dgm:prSet/>
      <dgm:spPr/>
      <dgm:t>
        <a:bodyPr/>
        <a:lstStyle/>
        <a:p>
          <a:endParaRPr lang="en-US"/>
        </a:p>
      </dgm:t>
    </dgm:pt>
    <dgm:pt modelId="{8FF29A48-F3D2-40C1-9EA4-121253610B5C}" type="sibTrans" cxnId="{CB1BB547-B5B5-4ABA-900A-4CC004E226A1}">
      <dgm:prSet/>
      <dgm:spPr/>
      <dgm:t>
        <a:bodyPr/>
        <a:lstStyle/>
        <a:p>
          <a:endParaRPr lang="en-US"/>
        </a:p>
      </dgm:t>
    </dgm:pt>
    <dgm:pt modelId="{BF7CCD71-C077-4F99-9F99-BF1FF62FE060}">
      <dgm:prSet custT="1"/>
      <dgm:spPr/>
      <dgm:t>
        <a:bodyPr/>
        <a:lstStyle/>
        <a:p>
          <a:r>
            <a:rPr lang="en-US" sz="1800"/>
            <a:t>Calibration</a:t>
          </a:r>
          <a:endParaRPr lang="en-US" sz="1800" dirty="0"/>
        </a:p>
      </dgm:t>
    </dgm:pt>
    <dgm:pt modelId="{A63E01EC-8511-4D0E-ADA9-2CCD9948B1EE}" type="parTrans" cxnId="{7A0E2EA0-FF2D-4CCD-A7D9-5CF14D5227A0}">
      <dgm:prSet/>
      <dgm:spPr/>
      <dgm:t>
        <a:bodyPr/>
        <a:lstStyle/>
        <a:p>
          <a:endParaRPr lang="en-US"/>
        </a:p>
      </dgm:t>
    </dgm:pt>
    <dgm:pt modelId="{9035BBB6-3452-4363-BE16-61D4A441196C}" type="sibTrans" cxnId="{7A0E2EA0-FF2D-4CCD-A7D9-5CF14D5227A0}">
      <dgm:prSet/>
      <dgm:spPr/>
      <dgm:t>
        <a:bodyPr/>
        <a:lstStyle/>
        <a:p>
          <a:endParaRPr lang="en-US"/>
        </a:p>
      </dgm:t>
    </dgm:pt>
    <dgm:pt modelId="{3C904EBE-B3E2-4177-BFD8-0E1AB01E0855}">
      <dgm:prSet custT="1"/>
      <dgm:spPr/>
      <dgm:t>
        <a:bodyPr/>
        <a:lstStyle/>
        <a:p>
          <a:r>
            <a:rPr lang="en-US" sz="1800"/>
            <a:t>SHAP</a:t>
          </a:r>
          <a:endParaRPr lang="en-US" sz="1800" dirty="0"/>
        </a:p>
      </dgm:t>
    </dgm:pt>
    <dgm:pt modelId="{F8E957C4-1A1B-474D-890B-6CDD96C2E80D}" type="parTrans" cxnId="{F85ADC9F-29CF-4F9B-852E-753E38B8FE0A}">
      <dgm:prSet/>
      <dgm:spPr/>
      <dgm:t>
        <a:bodyPr/>
        <a:lstStyle/>
        <a:p>
          <a:endParaRPr lang="en-US"/>
        </a:p>
      </dgm:t>
    </dgm:pt>
    <dgm:pt modelId="{C39A7E4D-E7A0-482C-86DB-29A9F8959CC7}" type="sibTrans" cxnId="{F85ADC9F-29CF-4F9B-852E-753E38B8FE0A}">
      <dgm:prSet/>
      <dgm:spPr/>
      <dgm:t>
        <a:bodyPr/>
        <a:lstStyle/>
        <a:p>
          <a:endParaRPr lang="en-US"/>
        </a:p>
      </dgm:t>
    </dgm:pt>
    <dgm:pt modelId="{06084151-6328-4920-8F6D-15CAF2EC6018}">
      <dgm:prSet custT="1"/>
      <dgm:spPr/>
      <dgm:t>
        <a:bodyPr/>
        <a:lstStyle/>
        <a:p>
          <a:r>
            <a:rPr lang="en-US" sz="1800" dirty="0"/>
            <a:t>Verifier</a:t>
          </a:r>
        </a:p>
      </dgm:t>
    </dgm:pt>
    <dgm:pt modelId="{41573298-A336-4165-B756-FA69EAC344DE}" type="parTrans" cxnId="{591ECAFB-6BF8-461D-ADC9-296923FF79C5}">
      <dgm:prSet/>
      <dgm:spPr/>
      <dgm:t>
        <a:bodyPr/>
        <a:lstStyle/>
        <a:p>
          <a:endParaRPr lang="en-US"/>
        </a:p>
      </dgm:t>
    </dgm:pt>
    <dgm:pt modelId="{2368E425-FD7E-4746-A0F2-1DF3DF63A0BA}" type="sibTrans" cxnId="{591ECAFB-6BF8-461D-ADC9-296923FF79C5}">
      <dgm:prSet/>
      <dgm:spPr/>
      <dgm:t>
        <a:bodyPr/>
        <a:lstStyle/>
        <a:p>
          <a:endParaRPr lang="en-US"/>
        </a:p>
      </dgm:t>
    </dgm:pt>
    <dgm:pt modelId="{29A5AB31-ACA4-4D14-BD08-96D020350720}">
      <dgm:prSet custT="1"/>
      <dgm:spPr/>
      <dgm:t>
        <a:bodyPr/>
        <a:lstStyle/>
        <a:p>
          <a:r>
            <a:rPr lang="en-US" sz="1800" dirty="0"/>
            <a:t>QLoRA distillation</a:t>
          </a:r>
        </a:p>
      </dgm:t>
    </dgm:pt>
    <dgm:pt modelId="{DE9AD1C1-6FB0-485D-9C38-F8415BA0FB0C}" type="parTrans" cxnId="{CC75DB6E-6A7C-4A95-B6D1-4DB8631BB68F}">
      <dgm:prSet/>
      <dgm:spPr/>
      <dgm:t>
        <a:bodyPr/>
        <a:lstStyle/>
        <a:p>
          <a:endParaRPr lang="en-US"/>
        </a:p>
      </dgm:t>
    </dgm:pt>
    <dgm:pt modelId="{935E3343-03E0-45F0-B69E-2484EBA7FC3A}" type="sibTrans" cxnId="{CC75DB6E-6A7C-4A95-B6D1-4DB8631BB68F}">
      <dgm:prSet/>
      <dgm:spPr/>
      <dgm:t>
        <a:bodyPr/>
        <a:lstStyle/>
        <a:p>
          <a:endParaRPr lang="en-US"/>
        </a:p>
      </dgm:t>
    </dgm:pt>
    <dgm:pt modelId="{90212C95-310D-4332-AF1E-5F22F12FA78B}" type="pres">
      <dgm:prSet presAssocID="{E61937EE-D568-41FB-A6B5-C65C5C72A0A4}" presName="root" presStyleCnt="0">
        <dgm:presLayoutVars>
          <dgm:dir/>
          <dgm:resizeHandles val="exact"/>
        </dgm:presLayoutVars>
      </dgm:prSet>
      <dgm:spPr/>
    </dgm:pt>
    <dgm:pt modelId="{151A1579-EA85-4847-93AF-CC2F8E91368F}" type="pres">
      <dgm:prSet presAssocID="{5597AE9E-2396-46A1-BFA5-FCB71B72FBE0}" presName="compNode" presStyleCnt="0"/>
      <dgm:spPr/>
    </dgm:pt>
    <dgm:pt modelId="{FD014451-DB93-4CFE-AF7C-972593AD1FEE}" type="pres">
      <dgm:prSet presAssocID="{5597AE9E-2396-46A1-BFA5-FCB71B72FBE0}" presName="accentLine" presStyleLbl="dkBgShp" presStyleIdx="0" presStyleCnt="3"/>
      <dgm:spPr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022E5F0D-1746-459A-A412-559606613C52}" type="pres">
      <dgm:prSet presAssocID="{5597AE9E-2396-46A1-BFA5-FCB71B72FBE0}" presName="titleText" presStyleLbl="revTx" presStyleIdx="0" presStyleCnt="6">
        <dgm:presLayoutVars>
          <dgm:chMax val="0"/>
          <dgm:chPref val="0"/>
        </dgm:presLayoutVars>
      </dgm:prSet>
      <dgm:spPr/>
    </dgm:pt>
    <dgm:pt modelId="{2D6DEB27-AB1B-4238-8239-C9279079BC07}" type="pres">
      <dgm:prSet presAssocID="{5597AE9E-2396-46A1-BFA5-FCB71B72FBE0}" presName="bodyText" presStyleLbl="revTx" presStyleIdx="1" presStyleCnt="6">
        <dgm:presLayoutVars>
          <dgm:chMax val="0"/>
          <dgm:chPref val="0"/>
        </dgm:presLayoutVars>
      </dgm:prSet>
      <dgm:spPr/>
    </dgm:pt>
    <dgm:pt modelId="{6B73F547-4341-405F-AE60-A4B07FF78C2D}" type="pres">
      <dgm:prSet presAssocID="{479F2C85-4505-4859-A741-98116C0ECA7F}" presName="sibTrans" presStyleCnt="0"/>
      <dgm:spPr/>
    </dgm:pt>
    <dgm:pt modelId="{941E4F73-962B-48F3-B961-498149038959}" type="pres">
      <dgm:prSet presAssocID="{3A197DEC-0106-4A97-9177-FA8F829CC75C}" presName="compNode" presStyleCnt="0"/>
      <dgm:spPr/>
    </dgm:pt>
    <dgm:pt modelId="{73F7AE92-B8E5-4425-9FEF-563BD98843CD}" type="pres">
      <dgm:prSet presAssocID="{3A197DEC-0106-4A97-9177-FA8F829CC75C}" presName="accentLine" presStyleLbl="dkBgShp" presStyleIdx="1" presStyleCnt="3"/>
      <dgm:spPr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925F3AC2-8F92-43F2-8A51-C7AB90C4FAEF}" type="pres">
      <dgm:prSet presAssocID="{3A197DEC-0106-4A97-9177-FA8F829CC75C}" presName="titleText" presStyleLbl="revTx" presStyleIdx="2" presStyleCnt="6">
        <dgm:presLayoutVars>
          <dgm:chMax val="0"/>
          <dgm:chPref val="0"/>
        </dgm:presLayoutVars>
      </dgm:prSet>
      <dgm:spPr/>
    </dgm:pt>
    <dgm:pt modelId="{1DD471BA-86CC-4C38-8204-BDFC1E7F43EF}" type="pres">
      <dgm:prSet presAssocID="{3A197DEC-0106-4A97-9177-FA8F829CC75C}" presName="bodyText" presStyleLbl="revTx" presStyleIdx="3" presStyleCnt="6">
        <dgm:presLayoutVars>
          <dgm:chMax val="0"/>
          <dgm:chPref val="0"/>
        </dgm:presLayoutVars>
      </dgm:prSet>
      <dgm:spPr/>
    </dgm:pt>
    <dgm:pt modelId="{2734E04A-5176-4BA7-AE9B-CAE85FCC0C19}" type="pres">
      <dgm:prSet presAssocID="{D4FC650B-C17C-4A64-BC80-11C14062D78A}" presName="sibTrans" presStyleCnt="0"/>
      <dgm:spPr/>
    </dgm:pt>
    <dgm:pt modelId="{232E4C02-2131-429D-AF39-16D97B93C3CD}" type="pres">
      <dgm:prSet presAssocID="{362F4EE6-FC9C-4D9C-AA00-D6A07325C802}" presName="compNode" presStyleCnt="0"/>
      <dgm:spPr/>
    </dgm:pt>
    <dgm:pt modelId="{A497069C-7258-41EF-816C-0F3322C632FE}" type="pres">
      <dgm:prSet presAssocID="{362F4EE6-FC9C-4D9C-AA00-D6A07325C802}" presName="accentLine" presStyleLbl="dkBgShp" presStyleIdx="2" presStyleCnt="3"/>
      <dgm:spPr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1D0C903A-A6D9-4920-8E91-AF125FBC1B53}" type="pres">
      <dgm:prSet presAssocID="{362F4EE6-FC9C-4D9C-AA00-D6A07325C802}" presName="titleText" presStyleLbl="revTx" presStyleIdx="4" presStyleCnt="6">
        <dgm:presLayoutVars>
          <dgm:chMax val="0"/>
          <dgm:chPref val="0"/>
        </dgm:presLayoutVars>
      </dgm:prSet>
      <dgm:spPr/>
    </dgm:pt>
    <dgm:pt modelId="{26470666-0EB3-46BD-BE7F-745B35375F51}" type="pres">
      <dgm:prSet presAssocID="{362F4EE6-FC9C-4D9C-AA00-D6A07325C802}" presName="bodyText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72295E0A-3409-4A8F-B706-F69C05398092}" srcId="{3A197DEC-0106-4A97-9177-FA8F829CC75C}" destId="{8CC902CB-55D3-4F07-96E8-35A8CDCFD05C}" srcOrd="2" destOrd="0" parTransId="{51CDA27D-133A-4C01-879C-E098512574D3}" sibTransId="{4BE3BFA6-A747-4B7B-A42B-FA4321DB87BD}"/>
    <dgm:cxn modelId="{1C56F810-DBF5-493E-89D7-40D321F44F72}" type="presOf" srcId="{06084151-6328-4920-8F6D-15CAF2EC6018}" destId="{26470666-0EB3-46BD-BE7F-745B35375F51}" srcOrd="0" destOrd="3" presId="urn:microsoft.com/office/officeart/2026/layout/TextCardShortLine"/>
    <dgm:cxn modelId="{9B409F13-0078-4C12-90D6-86EF1A4216B1}" type="presOf" srcId="{3C904EBE-B3E2-4177-BFD8-0E1AB01E0855}" destId="{26470666-0EB3-46BD-BE7F-745B35375F51}" srcOrd="0" destOrd="2" presId="urn:microsoft.com/office/officeart/2026/layout/TextCardShortLine"/>
    <dgm:cxn modelId="{F7126426-1421-4B81-95BD-6FF4DEBA0602}" srcId="{E61937EE-D568-41FB-A6B5-C65C5C72A0A4}" destId="{362F4EE6-FC9C-4D9C-AA00-D6A07325C802}" srcOrd="2" destOrd="0" parTransId="{B7EC4D22-0E8C-4B2C-AADE-68ABBD5B21FA}" sibTransId="{E18437E0-61BB-429D-8166-8483C7170FCB}"/>
    <dgm:cxn modelId="{3B824028-3A77-450E-A0A6-4A611CAF2C65}" type="presOf" srcId="{97508EDE-5D20-4F02-B05E-71F3A91067C9}" destId="{26470666-0EB3-46BD-BE7F-745B35375F51}" srcOrd="0" destOrd="0" presId="urn:microsoft.com/office/officeart/2026/layout/TextCardShortLine"/>
    <dgm:cxn modelId="{E6FC0833-D433-46E7-9582-F430E9281B55}" type="presOf" srcId="{362F4EE6-FC9C-4D9C-AA00-D6A07325C802}" destId="{1D0C903A-A6D9-4920-8E91-AF125FBC1B53}" srcOrd="0" destOrd="0" presId="urn:microsoft.com/office/officeart/2026/layout/TextCardShortLine"/>
    <dgm:cxn modelId="{0DB37666-284D-44FB-B971-C0F357AC6313}" type="presOf" srcId="{99B4065F-0083-47EE-A802-53966480206E}" destId="{2D6DEB27-AB1B-4238-8239-C9279079BC07}" srcOrd="0" destOrd="3" presId="urn:microsoft.com/office/officeart/2026/layout/TextCardShortLine"/>
    <dgm:cxn modelId="{8045AA47-0C58-4B13-A6EA-18D9F32786F3}" srcId="{3A197DEC-0106-4A97-9177-FA8F829CC75C}" destId="{08F2C182-29E0-476C-AD0F-773CD94959C4}" srcOrd="1" destOrd="0" parTransId="{F78B7B43-8DB6-455C-B90F-7BCE25188F00}" sibTransId="{A489C22F-152A-433D-A2EC-C5A843FA38E9}"/>
    <dgm:cxn modelId="{CB1BB547-B5B5-4ABA-900A-4CC004E226A1}" srcId="{3A197DEC-0106-4A97-9177-FA8F829CC75C}" destId="{02C176BA-4E9A-4229-8271-90EB99294E71}" srcOrd="4" destOrd="0" parTransId="{8EB67D51-5122-4789-965E-B8500413C510}" sibTransId="{8FF29A48-F3D2-40C1-9EA4-121253610B5C}"/>
    <dgm:cxn modelId="{B5D73C6B-77B5-44CC-AEC7-5C5137394BCC}" type="presOf" srcId="{08F2C182-29E0-476C-AD0F-773CD94959C4}" destId="{1DD471BA-86CC-4C38-8204-BDFC1E7F43EF}" srcOrd="0" destOrd="1" presId="urn:microsoft.com/office/officeart/2026/layout/TextCardShortLine"/>
    <dgm:cxn modelId="{CC75DB6E-6A7C-4A95-B6D1-4DB8631BB68F}" srcId="{362F4EE6-FC9C-4D9C-AA00-D6A07325C802}" destId="{29A5AB31-ACA4-4D14-BD08-96D020350720}" srcOrd="4" destOrd="0" parTransId="{DE9AD1C1-6FB0-485D-9C38-F8415BA0FB0C}" sibTransId="{935E3343-03E0-45F0-B69E-2484EBA7FC3A}"/>
    <dgm:cxn modelId="{B3E18B4F-8AED-4643-9A01-AF8E74D1B0EB}" srcId="{E61937EE-D568-41FB-A6B5-C65C5C72A0A4}" destId="{3A197DEC-0106-4A97-9177-FA8F829CC75C}" srcOrd="1" destOrd="0" parTransId="{FEAF041A-B711-45DE-9F28-0954D5BC7AC1}" sibTransId="{D4FC650B-C17C-4A64-BC80-11C14062D78A}"/>
    <dgm:cxn modelId="{57594273-8B75-438C-BD36-876FEDFD8400}" type="presOf" srcId="{29A5AB31-ACA4-4D14-BD08-96D020350720}" destId="{26470666-0EB3-46BD-BE7F-745B35375F51}" srcOrd="0" destOrd="4" presId="urn:microsoft.com/office/officeart/2026/layout/TextCardShortLine"/>
    <dgm:cxn modelId="{34315573-BA7A-4582-ADF9-877F9C9B0022}" type="presOf" srcId="{50EF1667-C492-4956-9971-C7FE2E8A61D5}" destId="{2D6DEB27-AB1B-4238-8239-C9279079BC07}" srcOrd="0" destOrd="0" presId="urn:microsoft.com/office/officeart/2026/layout/TextCardShortLine"/>
    <dgm:cxn modelId="{19042F7E-1D95-47CC-8E09-DCF702D8DC53}" type="presOf" srcId="{E61937EE-D568-41FB-A6B5-C65C5C72A0A4}" destId="{90212C95-310D-4332-AF1E-5F22F12FA78B}" srcOrd="0" destOrd="0" presId="urn:microsoft.com/office/officeart/2026/layout/TextCardShortLine"/>
    <dgm:cxn modelId="{EA819D83-9E15-4B6E-9C70-266E3E1BDC7D}" srcId="{3A197DEC-0106-4A97-9177-FA8F829CC75C}" destId="{AD81AD1E-2472-4C3F-9CB1-763525F4E611}" srcOrd="0" destOrd="0" parTransId="{BC0FC5C5-23B3-4C90-A24A-1171D1A5CE28}" sibTransId="{B0231DA6-A7F2-4552-9FD8-201EF672BF03}"/>
    <dgm:cxn modelId="{925B2C8A-83B3-4F42-9C8A-E2C538A650FA}" type="presOf" srcId="{AD81AD1E-2472-4C3F-9CB1-763525F4E611}" destId="{1DD471BA-86CC-4C38-8204-BDFC1E7F43EF}" srcOrd="0" destOrd="0" presId="urn:microsoft.com/office/officeart/2026/layout/TextCardShortLine"/>
    <dgm:cxn modelId="{DB154495-59AD-42FD-AB55-E3F3D4CED2C5}" type="presOf" srcId="{572CD8D0-BB78-4812-95E3-212497D5B68E}" destId="{2D6DEB27-AB1B-4238-8239-C9279079BC07}" srcOrd="0" destOrd="1" presId="urn:microsoft.com/office/officeart/2026/layout/TextCardShortLine"/>
    <dgm:cxn modelId="{77FD3A99-257A-4C1E-A5F6-9E59281AA371}" srcId="{5597AE9E-2396-46A1-BFA5-FCB71B72FBE0}" destId="{572CD8D0-BB78-4812-95E3-212497D5B68E}" srcOrd="1" destOrd="0" parTransId="{1CC44BA5-A5BE-4038-B67E-AB997BE8DFE1}" sibTransId="{61DDFDD9-7966-45A3-8796-A2B396CCF1C6}"/>
    <dgm:cxn modelId="{6684189D-F69B-460B-BE40-A01BCC114CC8}" type="presOf" srcId="{3A197DEC-0106-4A97-9177-FA8F829CC75C}" destId="{925F3AC2-8F92-43F2-8A51-C7AB90C4FAEF}" srcOrd="0" destOrd="0" presId="urn:microsoft.com/office/officeart/2026/layout/TextCardShortLine"/>
    <dgm:cxn modelId="{F85ADC9F-29CF-4F9B-852E-753E38B8FE0A}" srcId="{362F4EE6-FC9C-4D9C-AA00-D6A07325C802}" destId="{3C904EBE-B3E2-4177-BFD8-0E1AB01E0855}" srcOrd="2" destOrd="0" parTransId="{F8E957C4-1A1B-474D-890B-6CDD96C2E80D}" sibTransId="{C39A7E4D-E7A0-482C-86DB-29A9F8959CC7}"/>
    <dgm:cxn modelId="{7A0E2EA0-FF2D-4CCD-A7D9-5CF14D5227A0}" srcId="{362F4EE6-FC9C-4D9C-AA00-D6A07325C802}" destId="{BF7CCD71-C077-4F99-9F99-BF1FF62FE060}" srcOrd="1" destOrd="0" parTransId="{A63E01EC-8511-4D0E-ADA9-2CCD9948B1EE}" sibTransId="{9035BBB6-3452-4363-BE16-61D4A441196C}"/>
    <dgm:cxn modelId="{A8AEB4A8-66F1-4BBC-B632-307185ABB012}" type="presOf" srcId="{02C176BA-4E9A-4229-8271-90EB99294E71}" destId="{1DD471BA-86CC-4C38-8204-BDFC1E7F43EF}" srcOrd="0" destOrd="4" presId="urn:microsoft.com/office/officeart/2026/layout/TextCardShortLine"/>
    <dgm:cxn modelId="{E747BAB0-2E59-458B-B0AE-5E9331037008}" srcId="{5597AE9E-2396-46A1-BFA5-FCB71B72FBE0}" destId="{50EF1667-C492-4956-9971-C7FE2E8A61D5}" srcOrd="0" destOrd="0" parTransId="{E7DFDBC4-2C12-457A-A944-7E7344A39241}" sibTransId="{4FE8B97A-97AE-4B2A-AD3C-D5F6065F4158}"/>
    <dgm:cxn modelId="{E8BF69B1-2452-49AB-AECE-D378CBC445EC}" type="presOf" srcId="{BF7CCD71-C077-4F99-9F99-BF1FF62FE060}" destId="{26470666-0EB3-46BD-BE7F-745B35375F51}" srcOrd="0" destOrd="1" presId="urn:microsoft.com/office/officeart/2026/layout/TextCardShortLine"/>
    <dgm:cxn modelId="{394E17D9-306C-423C-ADA3-8ACF719B7DD4}" srcId="{5597AE9E-2396-46A1-BFA5-FCB71B72FBE0}" destId="{99B4065F-0083-47EE-A802-53966480206E}" srcOrd="3" destOrd="0" parTransId="{E8C62A41-CB24-4FB5-B77F-3F959537E18F}" sibTransId="{1C63665C-1EA2-410C-A51F-F5AA09339492}"/>
    <dgm:cxn modelId="{D19EBDDD-B0F2-4CB1-806E-69C4FC86BEE8}" srcId="{5597AE9E-2396-46A1-BFA5-FCB71B72FBE0}" destId="{F9944769-0F46-4052-B4B6-C973A3E01C1E}" srcOrd="4" destOrd="0" parTransId="{50C04C97-4C83-4E99-9CEE-A947800017C3}" sibTransId="{F9325BEB-E743-46B6-8B24-ACE799391065}"/>
    <dgm:cxn modelId="{B9199FDF-3949-462C-A069-EA21B8B86E4B}" srcId="{362F4EE6-FC9C-4D9C-AA00-D6A07325C802}" destId="{97508EDE-5D20-4F02-B05E-71F3A91067C9}" srcOrd="0" destOrd="0" parTransId="{B530F2E7-630C-44FA-8764-9D4D00894EEF}" sibTransId="{D618C279-32B3-4C4C-B27D-E09C522DC1D0}"/>
    <dgm:cxn modelId="{B6B2EDDF-2FF3-4972-84C7-097560457BB4}" type="presOf" srcId="{8CC902CB-55D3-4F07-96E8-35A8CDCFD05C}" destId="{1DD471BA-86CC-4C38-8204-BDFC1E7F43EF}" srcOrd="0" destOrd="2" presId="urn:microsoft.com/office/officeart/2026/layout/TextCardShortLine"/>
    <dgm:cxn modelId="{77D3A6E4-131D-4532-8ACD-558B59E3D9C8}" type="presOf" srcId="{3FA2C298-6D1E-4AE9-9EB6-54B505711D86}" destId="{2D6DEB27-AB1B-4238-8239-C9279079BC07}" srcOrd="0" destOrd="2" presId="urn:microsoft.com/office/officeart/2026/layout/TextCardShortLine"/>
    <dgm:cxn modelId="{65F375EA-94BF-4C8A-AB72-976374E18A5A}" type="presOf" srcId="{C0BFD7C8-67B5-4DDD-B678-1B83735DD2DA}" destId="{1DD471BA-86CC-4C38-8204-BDFC1E7F43EF}" srcOrd="0" destOrd="3" presId="urn:microsoft.com/office/officeart/2026/layout/TextCardShortLine"/>
    <dgm:cxn modelId="{A32F0FEE-662D-4A53-858B-C6B1FA2A013F}" srcId="{3A197DEC-0106-4A97-9177-FA8F829CC75C}" destId="{C0BFD7C8-67B5-4DDD-B678-1B83735DD2DA}" srcOrd="3" destOrd="0" parTransId="{22D1DE9E-6617-4D06-8AE8-D168727463A1}" sibTransId="{0121E772-EE56-4ECC-9E1C-B89C672111DC}"/>
    <dgm:cxn modelId="{F14310F1-FD45-407E-9761-AD464F75AA05}" type="presOf" srcId="{F9944769-0F46-4052-B4B6-C973A3E01C1E}" destId="{2D6DEB27-AB1B-4238-8239-C9279079BC07}" srcOrd="0" destOrd="4" presId="urn:microsoft.com/office/officeart/2026/layout/TextCardShortLine"/>
    <dgm:cxn modelId="{000F52F7-46EB-44F0-9FA9-48CA21765B0B}" srcId="{5597AE9E-2396-46A1-BFA5-FCB71B72FBE0}" destId="{3FA2C298-6D1E-4AE9-9EB6-54B505711D86}" srcOrd="2" destOrd="0" parTransId="{27501C72-5A01-49A0-B3D2-89B553C05FA9}" sibTransId="{D048DD3E-6BF0-4334-BAA4-D797E77A8798}"/>
    <dgm:cxn modelId="{8CF800FA-476A-4851-9715-474DDDED4973}" srcId="{E61937EE-D568-41FB-A6B5-C65C5C72A0A4}" destId="{5597AE9E-2396-46A1-BFA5-FCB71B72FBE0}" srcOrd="0" destOrd="0" parTransId="{FB06AC8B-1B6A-4F93-AE5B-75EA30011206}" sibTransId="{479F2C85-4505-4859-A741-98116C0ECA7F}"/>
    <dgm:cxn modelId="{40492DFB-4415-4A18-9D23-D882641B348E}" type="presOf" srcId="{5597AE9E-2396-46A1-BFA5-FCB71B72FBE0}" destId="{022E5F0D-1746-459A-A412-559606613C52}" srcOrd="0" destOrd="0" presId="urn:microsoft.com/office/officeart/2026/layout/TextCardShortLine"/>
    <dgm:cxn modelId="{591ECAFB-6BF8-461D-ADC9-296923FF79C5}" srcId="{362F4EE6-FC9C-4D9C-AA00-D6A07325C802}" destId="{06084151-6328-4920-8F6D-15CAF2EC6018}" srcOrd="3" destOrd="0" parTransId="{41573298-A336-4165-B756-FA69EAC344DE}" sibTransId="{2368E425-FD7E-4746-A0F2-1DF3DF63A0BA}"/>
    <dgm:cxn modelId="{89737130-53D5-49C3-8F6F-7971F57779A9}" type="presParOf" srcId="{90212C95-310D-4332-AF1E-5F22F12FA78B}" destId="{151A1579-EA85-4847-93AF-CC2F8E91368F}" srcOrd="0" destOrd="0" presId="urn:microsoft.com/office/officeart/2026/layout/TextCardShortLine"/>
    <dgm:cxn modelId="{95E5B1F9-C064-4371-B4D4-32BD7266D427}" type="presParOf" srcId="{151A1579-EA85-4847-93AF-CC2F8E91368F}" destId="{FD014451-DB93-4CFE-AF7C-972593AD1FEE}" srcOrd="0" destOrd="0" presId="urn:microsoft.com/office/officeart/2026/layout/TextCardShortLine"/>
    <dgm:cxn modelId="{F3576B3C-0C86-4A05-ACEF-D8EF1B5A06FE}" type="presParOf" srcId="{151A1579-EA85-4847-93AF-CC2F8E91368F}" destId="{022E5F0D-1746-459A-A412-559606613C52}" srcOrd="1" destOrd="0" presId="urn:microsoft.com/office/officeart/2026/layout/TextCardShortLine"/>
    <dgm:cxn modelId="{D8E587DE-E9D7-426B-B54A-1A5984A7354D}" type="presParOf" srcId="{151A1579-EA85-4847-93AF-CC2F8E91368F}" destId="{2D6DEB27-AB1B-4238-8239-C9279079BC07}" srcOrd="2" destOrd="0" presId="urn:microsoft.com/office/officeart/2026/layout/TextCardShortLine"/>
    <dgm:cxn modelId="{03B9DEDF-0426-45FB-969E-B141FB7C735E}" type="presParOf" srcId="{90212C95-310D-4332-AF1E-5F22F12FA78B}" destId="{6B73F547-4341-405F-AE60-A4B07FF78C2D}" srcOrd="1" destOrd="0" presId="urn:microsoft.com/office/officeart/2026/layout/TextCardShortLine"/>
    <dgm:cxn modelId="{80D9A2ED-6229-458D-B74E-E36499F95028}" type="presParOf" srcId="{90212C95-310D-4332-AF1E-5F22F12FA78B}" destId="{941E4F73-962B-48F3-B961-498149038959}" srcOrd="2" destOrd="0" presId="urn:microsoft.com/office/officeart/2026/layout/TextCardShortLine"/>
    <dgm:cxn modelId="{2594E950-4BC3-4613-8C2B-0B66BC74B8D2}" type="presParOf" srcId="{941E4F73-962B-48F3-B961-498149038959}" destId="{73F7AE92-B8E5-4425-9FEF-563BD98843CD}" srcOrd="0" destOrd="0" presId="urn:microsoft.com/office/officeart/2026/layout/TextCardShortLine"/>
    <dgm:cxn modelId="{8F0945C3-51E5-4E43-9488-B48217184776}" type="presParOf" srcId="{941E4F73-962B-48F3-B961-498149038959}" destId="{925F3AC2-8F92-43F2-8A51-C7AB90C4FAEF}" srcOrd="1" destOrd="0" presId="urn:microsoft.com/office/officeart/2026/layout/TextCardShortLine"/>
    <dgm:cxn modelId="{0517D04C-87B6-4D0C-93CE-A2EC08AAFB29}" type="presParOf" srcId="{941E4F73-962B-48F3-B961-498149038959}" destId="{1DD471BA-86CC-4C38-8204-BDFC1E7F43EF}" srcOrd="2" destOrd="0" presId="urn:microsoft.com/office/officeart/2026/layout/TextCardShortLine"/>
    <dgm:cxn modelId="{C3CB8474-643F-4B7C-8EC1-A611C4456C3C}" type="presParOf" srcId="{90212C95-310D-4332-AF1E-5F22F12FA78B}" destId="{2734E04A-5176-4BA7-AE9B-CAE85FCC0C19}" srcOrd="3" destOrd="0" presId="urn:microsoft.com/office/officeart/2026/layout/TextCardShortLine"/>
    <dgm:cxn modelId="{350FAEE0-19BF-428E-880A-A886AA081B11}" type="presParOf" srcId="{90212C95-310D-4332-AF1E-5F22F12FA78B}" destId="{232E4C02-2131-429D-AF39-16D97B93C3CD}" srcOrd="4" destOrd="0" presId="urn:microsoft.com/office/officeart/2026/layout/TextCardShortLine"/>
    <dgm:cxn modelId="{E4A08D39-E225-4F26-B3CD-1B2A08F45D59}" type="presParOf" srcId="{232E4C02-2131-429D-AF39-16D97B93C3CD}" destId="{A497069C-7258-41EF-816C-0F3322C632FE}" srcOrd="0" destOrd="0" presId="urn:microsoft.com/office/officeart/2026/layout/TextCardShortLine"/>
    <dgm:cxn modelId="{A64567DB-772B-4DF6-BC00-0771DB73391C}" type="presParOf" srcId="{232E4C02-2131-429D-AF39-16D97B93C3CD}" destId="{1D0C903A-A6D9-4920-8E91-AF125FBC1B53}" srcOrd="1" destOrd="0" presId="urn:microsoft.com/office/officeart/2026/layout/TextCardShortLine"/>
    <dgm:cxn modelId="{81589328-C574-484D-8962-EB141A5789E4}" type="presParOf" srcId="{232E4C02-2131-429D-AF39-16D97B93C3CD}" destId="{26470666-0EB3-46BD-BE7F-745B35375F51}" srcOrd="2" destOrd="0" presId="urn:microsoft.com/office/officeart/2026/layout/TextCardShortLine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D1CD37-050E-4DCA-A9E4-37B0D871CE6A}">
      <dsp:nvSpPr>
        <dsp:cNvPr id="0" name=""/>
        <dsp:cNvSpPr/>
      </dsp:nvSpPr>
      <dsp:spPr>
        <a:xfrm>
          <a:off x="4066260" y="103759"/>
          <a:ext cx="23641" cy="4980432"/>
        </a:xfrm>
        <a:prstGeom prst="rect">
          <a:avLst/>
        </a:prstGeom>
        <a:gradFill rotWithShape="0">
          <a:gsLst>
            <a:gs pos="0">
              <a:schemeClr val="dk1">
                <a:tint val="76000"/>
              </a:schemeClr>
            </a:gs>
            <a:gs pos="100000">
              <a:schemeClr val="dk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FB52FB39-2C0F-4263-ABF8-603ECE6F622E}">
      <dsp:nvSpPr>
        <dsp:cNvPr id="0" name=""/>
        <dsp:cNvSpPr/>
      </dsp:nvSpPr>
      <dsp:spPr>
        <a:xfrm>
          <a:off x="0" y="358304"/>
          <a:ext cx="3688004" cy="803726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15240" rIns="91440" bIns="15240" numCol="1" spcCol="1270" anchor="ctr" anchorCtr="0">
          <a:noAutofit/>
        </a:bodyPr>
        <a:lstStyle/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US" sz="2400" kern="1200" dirty="0">
              <a:solidFill>
                <a:schemeClr val="tx1"/>
              </a:solidFill>
            </a:rPr>
            <a:t>Mid Defense</a:t>
          </a:r>
        </a:p>
      </dsp:txBody>
      <dsp:txXfrm>
        <a:off x="0" y="358304"/>
        <a:ext cx="3688004" cy="803726"/>
      </dsp:txXfrm>
    </dsp:sp>
    <dsp:sp modelId="{CB4A1D92-1300-4535-A947-80EBC14A22D0}">
      <dsp:nvSpPr>
        <dsp:cNvPr id="0" name=""/>
        <dsp:cNvSpPr/>
      </dsp:nvSpPr>
      <dsp:spPr>
        <a:xfrm>
          <a:off x="4021820" y="703906"/>
          <a:ext cx="112521" cy="112521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C6351F1D-8744-4D14-824A-6F7FCFBD0702}">
      <dsp:nvSpPr>
        <dsp:cNvPr id="0" name=""/>
        <dsp:cNvSpPr/>
      </dsp:nvSpPr>
      <dsp:spPr>
        <a:xfrm>
          <a:off x="4479979" y="105270"/>
          <a:ext cx="7340546" cy="130979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7620" rIns="15240" bIns="76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Prove core technical building </a:t>
          </a:r>
          <a:r>
            <a:rPr lang="en-US" sz="1200" b="1" kern="1200" dirty="0"/>
            <a:t>blocks work in isolation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Complete Risk Profiling Layer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Historical Data Pipeline 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FinBERT and CryptoBERT scoring on sample data set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 dirty="0"/>
        </a:p>
      </dsp:txBody>
      <dsp:txXfrm>
        <a:off x="4479979" y="105270"/>
        <a:ext cx="7340546" cy="1309793"/>
      </dsp:txXfrm>
    </dsp:sp>
    <dsp:sp modelId="{4956D398-B62C-4D87-B54D-28C9D4177627}">
      <dsp:nvSpPr>
        <dsp:cNvPr id="0" name=""/>
        <dsp:cNvSpPr/>
      </dsp:nvSpPr>
      <dsp:spPr>
        <a:xfrm>
          <a:off x="0" y="1673414"/>
          <a:ext cx="3688004" cy="803726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15240" rIns="91440" bIns="15240" numCol="1" spcCol="1270" anchor="ctr" anchorCtr="0">
          <a:noAutofit/>
        </a:bodyPr>
        <a:lstStyle/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US" sz="2400" kern="1200" dirty="0">
              <a:solidFill>
                <a:schemeClr val="tx1"/>
              </a:solidFill>
            </a:rPr>
            <a:t>Final Defense</a:t>
          </a:r>
        </a:p>
      </dsp:txBody>
      <dsp:txXfrm>
        <a:off x="0" y="1673414"/>
        <a:ext cx="3688004" cy="803726"/>
      </dsp:txXfrm>
    </dsp:sp>
    <dsp:sp modelId="{6C77FB58-A55E-409A-9701-19BA83D3A4B0}">
      <dsp:nvSpPr>
        <dsp:cNvPr id="0" name=""/>
        <dsp:cNvSpPr/>
      </dsp:nvSpPr>
      <dsp:spPr>
        <a:xfrm>
          <a:off x="4021820" y="2019016"/>
          <a:ext cx="112521" cy="112521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FB72776E-FAE9-4B53-A404-AB75347482CD}">
      <dsp:nvSpPr>
        <dsp:cNvPr id="0" name=""/>
        <dsp:cNvSpPr/>
      </dsp:nvSpPr>
      <dsp:spPr>
        <a:xfrm>
          <a:off x="4479979" y="1535623"/>
          <a:ext cx="7340546" cy="107930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7620" rIns="15240" bIns="76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Functional web prototype</a:t>
          </a:r>
          <a:r>
            <a:rPr lang="en-US" sz="1200" kern="1200" dirty="0"/>
            <a:t>: risk quiz → company selection → recommendation → SHAP-based explanation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XG model trained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SHAP integrated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LLM explanation layer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Nightly batch sentiment scoring pipeline operational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 dirty="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 dirty="0"/>
        </a:p>
      </dsp:txBody>
      <dsp:txXfrm>
        <a:off x="4479979" y="1535623"/>
        <a:ext cx="7340546" cy="1079308"/>
      </dsp:txXfrm>
    </dsp:sp>
    <dsp:sp modelId="{D4D3126C-E76A-4B85-BD4B-42335EDD4466}">
      <dsp:nvSpPr>
        <dsp:cNvPr id="0" name=""/>
        <dsp:cNvSpPr/>
      </dsp:nvSpPr>
      <dsp:spPr>
        <a:xfrm>
          <a:off x="0" y="3045078"/>
          <a:ext cx="3688004" cy="803726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15240" rIns="91440" bIns="15240" numCol="1" spcCol="1270" anchor="ctr" anchorCtr="0">
          <a:noAutofit/>
        </a:bodyPr>
        <a:lstStyle/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US" sz="2400" kern="1200" dirty="0">
              <a:solidFill>
                <a:schemeClr val="tx1"/>
              </a:solidFill>
            </a:rPr>
            <a:t>Mid Evaluation</a:t>
          </a:r>
        </a:p>
      </dsp:txBody>
      <dsp:txXfrm>
        <a:off x="0" y="3045078"/>
        <a:ext cx="3688004" cy="803726"/>
      </dsp:txXfrm>
    </dsp:sp>
    <dsp:sp modelId="{B7EE1606-2822-4B54-A59B-9369807AC650}">
      <dsp:nvSpPr>
        <dsp:cNvPr id="0" name=""/>
        <dsp:cNvSpPr/>
      </dsp:nvSpPr>
      <dsp:spPr>
        <a:xfrm>
          <a:off x="4021820" y="3390681"/>
          <a:ext cx="112521" cy="112521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817ACFF5-E2A1-4E75-87B4-CEBDC3E64098}">
      <dsp:nvSpPr>
        <dsp:cNvPr id="0" name=""/>
        <dsp:cNvSpPr/>
      </dsp:nvSpPr>
      <dsp:spPr>
        <a:xfrm>
          <a:off x="4479979" y="2735491"/>
          <a:ext cx="7340546" cy="142290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7620" rIns="15240" bIns="76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All modules working together as </a:t>
          </a:r>
          <a:r>
            <a:rPr lang="en-US" sz="1200" b="1" kern="1200" dirty="0"/>
            <a:t>one coherent, stable system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Full integration across all 7 tickers (not just baseline ticker)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Chat/follow-up interface with 10-message rolling context window implemented and tested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Leakage evaluation completed: walk-forward vs. shuffled-fold comparison, both negative controls (1-day horizon, shuffled-fold) run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Performance/latency check </a:t>
          </a:r>
        </a:p>
      </dsp:txBody>
      <dsp:txXfrm>
        <a:off x="4479979" y="2735491"/>
        <a:ext cx="7340546" cy="1422902"/>
      </dsp:txXfrm>
    </dsp:sp>
    <dsp:sp modelId="{C8DCDB2B-194D-4095-90F2-84DCF0F84F6F}">
      <dsp:nvSpPr>
        <dsp:cNvPr id="0" name=""/>
        <dsp:cNvSpPr/>
      </dsp:nvSpPr>
      <dsp:spPr>
        <a:xfrm>
          <a:off x="0" y="4278952"/>
          <a:ext cx="3688004" cy="803726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15240" rIns="91440" bIns="15240" numCol="1" spcCol="1270" anchor="ctr" anchorCtr="0">
          <a:noAutofit/>
        </a:bodyPr>
        <a:lstStyle/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US" sz="2400" kern="1200" dirty="0">
              <a:solidFill>
                <a:schemeClr val="tx1"/>
              </a:solidFill>
            </a:rPr>
            <a:t>Final Defense</a:t>
          </a:r>
        </a:p>
      </dsp:txBody>
      <dsp:txXfrm>
        <a:off x="0" y="4278952"/>
        <a:ext cx="3688004" cy="803726"/>
      </dsp:txXfrm>
    </dsp:sp>
    <dsp:sp modelId="{998B422B-E9E8-4C52-9236-C4CD2A5E01DE}">
      <dsp:nvSpPr>
        <dsp:cNvPr id="0" name=""/>
        <dsp:cNvSpPr/>
      </dsp:nvSpPr>
      <dsp:spPr>
        <a:xfrm>
          <a:off x="4021820" y="4624554"/>
          <a:ext cx="112521" cy="112521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C19E1B01-0374-4CD3-8096-1C8CF08C3144}">
      <dsp:nvSpPr>
        <dsp:cNvPr id="0" name=""/>
        <dsp:cNvSpPr/>
      </dsp:nvSpPr>
      <dsp:spPr>
        <a:xfrm>
          <a:off x="4479979" y="4278952"/>
          <a:ext cx="7340546" cy="803726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7620" rIns="15240" bIns="76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Production-ready deployment </a:t>
          </a:r>
          <a:r>
            <a:rPr lang="en-US" sz="1200" kern="1200" dirty="0"/>
            <a:t>and complete documentation 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Complete project report: methodology, architecture, evaluation, limitations, future work</a:t>
          </a:r>
        </a:p>
      </dsp:txBody>
      <dsp:txXfrm>
        <a:off x="4479979" y="4278952"/>
        <a:ext cx="7340546" cy="80372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014451-DB93-4CFE-AF7C-972593AD1FEE}">
      <dsp:nvSpPr>
        <dsp:cNvPr id="0" name=""/>
        <dsp:cNvSpPr/>
      </dsp:nvSpPr>
      <dsp:spPr>
        <a:xfrm>
          <a:off x="291313" y="836085"/>
          <a:ext cx="706862" cy="40192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2E5F0D-1746-459A-A412-559606613C52}">
      <dsp:nvSpPr>
        <dsp:cNvPr id="0" name=""/>
        <dsp:cNvSpPr/>
      </dsp:nvSpPr>
      <dsp:spPr>
        <a:xfrm>
          <a:off x="291313" y="1114082"/>
          <a:ext cx="3213012" cy="7469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200" kern="1200" dirty="0"/>
            <a:t>Ahmed Javaid</a:t>
          </a:r>
        </a:p>
      </dsp:txBody>
      <dsp:txXfrm>
        <a:off x="291313" y="1114082"/>
        <a:ext cx="3213012" cy="746908"/>
      </dsp:txXfrm>
    </dsp:sp>
    <dsp:sp modelId="{2D6DEB27-AB1B-4238-8239-C9279079BC07}">
      <dsp:nvSpPr>
        <dsp:cNvPr id="0" name=""/>
        <dsp:cNvSpPr/>
      </dsp:nvSpPr>
      <dsp:spPr>
        <a:xfrm>
          <a:off x="291313" y="1860991"/>
          <a:ext cx="3213012" cy="2324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point-in-time harness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leakage tests</a:t>
          </a:r>
          <a:endParaRPr lang="en-US" sz="1800" kern="1200" dirty="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solidFill>
                <a:srgbClr val="1B2A38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dual-timestamp schema</a:t>
          </a:r>
          <a:endParaRPr lang="en-US" sz="1800" kern="1200" dirty="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parity test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deployment</a:t>
          </a:r>
        </a:p>
      </dsp:txBody>
      <dsp:txXfrm>
        <a:off x="291313" y="1860991"/>
        <a:ext cx="3213012" cy="2324458"/>
      </dsp:txXfrm>
    </dsp:sp>
    <dsp:sp modelId="{73F7AE92-B8E5-4425-9FEF-563BD98843CD}">
      <dsp:nvSpPr>
        <dsp:cNvPr id="0" name=""/>
        <dsp:cNvSpPr/>
      </dsp:nvSpPr>
      <dsp:spPr>
        <a:xfrm>
          <a:off x="3748514" y="836085"/>
          <a:ext cx="706862" cy="40192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5F3AC2-8F92-43F2-8A51-C7AB90C4FAEF}">
      <dsp:nvSpPr>
        <dsp:cNvPr id="0" name=""/>
        <dsp:cNvSpPr/>
      </dsp:nvSpPr>
      <dsp:spPr>
        <a:xfrm>
          <a:off x="3748514" y="1114082"/>
          <a:ext cx="3213012" cy="7469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200" kern="1200" dirty="0"/>
            <a:t>Rafay Ul Haq</a:t>
          </a:r>
        </a:p>
      </dsp:txBody>
      <dsp:txXfrm>
        <a:off x="3748514" y="1114082"/>
        <a:ext cx="3213012" cy="746908"/>
      </dsp:txXfrm>
    </dsp:sp>
    <dsp:sp modelId="{1DD471BA-86CC-4C38-8204-BDFC1E7F43EF}">
      <dsp:nvSpPr>
        <dsp:cNvPr id="0" name=""/>
        <dsp:cNvSpPr/>
      </dsp:nvSpPr>
      <dsp:spPr>
        <a:xfrm>
          <a:off x="3748514" y="1860991"/>
          <a:ext cx="3213012" cy="2324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risk profiling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sentiment pipeline</a:t>
          </a:r>
          <a:endParaRPr lang="en-US" sz="1800" kern="1200" dirty="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degraded operation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acceptance testing</a:t>
          </a:r>
          <a:endParaRPr lang="en-US" sz="1800" kern="1200" dirty="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frontend</a:t>
          </a:r>
        </a:p>
      </dsp:txBody>
      <dsp:txXfrm>
        <a:off x="3748514" y="1860991"/>
        <a:ext cx="3213012" cy="2324458"/>
      </dsp:txXfrm>
    </dsp:sp>
    <dsp:sp modelId="{A497069C-7258-41EF-816C-0F3322C632FE}">
      <dsp:nvSpPr>
        <dsp:cNvPr id="0" name=""/>
        <dsp:cNvSpPr/>
      </dsp:nvSpPr>
      <dsp:spPr>
        <a:xfrm>
          <a:off x="7205716" y="836085"/>
          <a:ext cx="706862" cy="40192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0C903A-A6D9-4920-8E91-AF125FBC1B53}">
      <dsp:nvSpPr>
        <dsp:cNvPr id="0" name=""/>
        <dsp:cNvSpPr/>
      </dsp:nvSpPr>
      <dsp:spPr>
        <a:xfrm>
          <a:off x="7205716" y="1114082"/>
          <a:ext cx="3213012" cy="7469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200" kern="1200" dirty="0"/>
            <a:t>Soban Ahmed</a:t>
          </a:r>
        </a:p>
      </dsp:txBody>
      <dsp:txXfrm>
        <a:off x="7205716" y="1114082"/>
        <a:ext cx="3213012" cy="746908"/>
      </dsp:txXfrm>
    </dsp:sp>
    <dsp:sp modelId="{26470666-0EB3-46BD-BE7F-745B35375F51}">
      <dsp:nvSpPr>
        <dsp:cNvPr id="0" name=""/>
        <dsp:cNvSpPr/>
      </dsp:nvSpPr>
      <dsp:spPr>
        <a:xfrm>
          <a:off x="7205716" y="1860991"/>
          <a:ext cx="3213012" cy="2324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decision engine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Calibration</a:t>
          </a:r>
          <a:endParaRPr lang="en-US" sz="1800" kern="1200" dirty="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SHAP</a:t>
          </a:r>
          <a:endParaRPr lang="en-US" sz="1800" kern="1200" dirty="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Verifier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QLoRA distillation</a:t>
          </a:r>
        </a:p>
      </dsp:txBody>
      <dsp:txXfrm>
        <a:off x="7205716" y="1860991"/>
        <a:ext cx="3213012" cy="23244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6/layout/SmallDotsVertical">
  <dgm:title val=""/>
  <dgm:desc val=""/>
  <dgm:catLst>
    <dgm:cat type="timeline" pri="108"/>
  </dgm:catLst>
  <dgm:sampData>
    <dgm:dataModel>
      <dgm:ptLst>
        <dgm:pt modelId="0" type="doc"/>
        <dgm:pt modelId="100">
          <dgm:prSet phldrT="Title" phldr="1"/>
        </dgm:pt>
        <dgm:pt modelId="101">
          <dgm:prSet phldrT="Description" phldr="1"/>
        </dgm:pt>
        <dgm:pt modelId="200">
          <dgm:prSet phldrT="Title" phldr="1"/>
        </dgm:pt>
        <dgm:pt modelId="201">
          <dgm:prSet phldrT="Description" phldr="1"/>
        </dgm:pt>
        <dgm:pt modelId="300">
          <dgm:prSet phldrT="Title" phldr="1"/>
        </dgm:pt>
        <dgm:pt modelId="301">
          <dgm:prSet phldrT="Description" phldr="1"/>
        </dgm:pt>
        <dgm:pt modelId="400">
          <dgm:prSet phldrT="Title" phldr="1"/>
        </dgm:pt>
        <dgm:pt modelId="401">
          <dgm:prSet phldrT="Description" phldr="1"/>
        </dgm:pt>
      </dgm:ptLst>
      <dgm:cxnLst>
        <dgm:cxn modelId="1000" srcId="0" destId="100" srcOrd="0" destOrd="0"/>
        <dgm:cxn modelId="1001" srcId="100" destId="101" srcOrd="0" destOrd="0"/>
        <dgm:cxn modelId="2000" srcId="0" destId="200" srcOrd="1" destOrd="0"/>
        <dgm:cxn modelId="2001" srcId="200" destId="201" srcOrd="0" destOrd="0"/>
        <dgm:cxn modelId="3000" srcId="0" destId="300" srcOrd="2" destOrd="0"/>
        <dgm:cxn modelId="3001" srcId="300" destId="301" srcOrd="0" destOrd="0"/>
        <dgm:cxn modelId="4000" srcId="0" destId="400" srcOrd="3" destOrd="0"/>
        <dgm:cxn modelId="4001" srcId="400" destId="40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connLine" refType="w" fact="0.345"/>
      <dgm:constr type="w" for="ch" forName="connLine" refType="w" fact="0.002"/>
      <dgm:constr type="t" for="ch" forName="connLine" refType="h" fact="0.02"/>
      <dgm:constr type="h" for="ch" forName="connLine" refType="h" fact="0.96"/>
      <dgm:constr type="l" for="ch" forName="itemsFlow"/>
      <dgm:constr type="w" for="ch" forName="itemsFlow" refType="w"/>
      <dgm:constr type="t" for="ch" forName="itemsFlow" refType="h" fact="0.02"/>
      <dgm:constr type="h" for="ch" forName="itemsFlow" refType="h" fact="0.96"/>
    </dgm:constrLst>
    <dgm:ruleLst/>
    <dgm:layoutNode name="connLine" styleLbl="dkBgShp">
      <dgm:alg type="sp"/>
      <dgm:shape xmlns:r="http://schemas.openxmlformats.org/officeDocument/2006/relationships" type="rect" r:blip="">
        <dgm:adjLst/>
        <dgm:extLst>
          <a:ext uri="{B698B0E9-8C71-41B9-8309-B3DCBF30829C}">
            <dgm1612:spPr xmlns:dgm1612="http://schemas.microsoft.com/office/drawing/2016/12/diagram">
              <a:gradFill rotWithShape="0">
                <a:gsLst>
                  <a:gs pos="0">
                    <a:schemeClr val="accent1">
                      <a:tint val="76000"/>
                    </a:schemeClr>
                  </a:gs>
                  <a:gs pos="100000">
                    <a:schemeClr val="accent1">
                      <a:tint val="76000"/>
                    </a:schemeClr>
                  </a:gs>
                </a:gsLst>
                <a:lin ang="0" scaled="0"/>
              </a:gradFill>
            </dgm1612:spPr>
          </a:ext>
        </dgm:extLst>
      </dgm:shape>
      <dgm:presOf/>
      <dgm:constrLst/>
      <dgm:ruleLst/>
    </dgm:layoutNode>
    <dgm:layoutNode name="itemsFlow">
      <dgm:alg type="lin">
        <dgm:param type="linDir" val="fromT"/>
        <dgm:param type="fallback" val="1D"/>
      </dgm:alg>
      <dgm:shape xmlns:r="http://schemas.openxmlformats.org/officeDocument/2006/relationships" r:blip="">
        <dgm:adjLst/>
      </dgm:shape>
      <dgm:presOf/>
      <dgm:constrLst>
        <dgm:constr type="w" for="ch" forName="item" refType="w"/>
        <dgm:constr type="h" for="ch" forName="item" refType="h"/>
        <dgm:constr type="h" for="ch" forName="spacer" refType="h" refFor="ch" refForName="item" fact="0.15"/>
        <dgm:constr type="primFontSz" for="des" forName="titleText" op="equ"/>
        <dgm:constr type="primFontSz" for="des" forName="descText" op="equ"/>
      </dgm:constrLst>
      <dgm:ruleLst/>
      <dgm:forEach name="nodesForEach" axis="ch" ptType="node">
        <dgm:layoutNode name="item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anchor"/>
            <dgm:constr type="t" for="ch" forName="anchor"/>
            <dgm:constr type="w" for="ch" forName="anchor" refType="w"/>
            <dgm:constr type="h" for="ch" forName="anchor" refType="h"/>
            <dgm:constr type="l" for="ch" forName="titleText"/>
            <dgm:constr type="ctrY" for="ch" forName="titleText" refType="h" fact="0.5"/>
            <dgm:constr type="w" for="ch" forName="titleText" refType="w" fact="0.312"/>
            <dgm:constr type="h" for="ch" forName="titleText" refType="h"/>
            <dgm:constr type="ctrX" for="ch" forName="dot" refType="w" fact="0.345"/>
            <dgm:constr type="ctrY" for="ch" forName="dot" refType="h" fact="0.5"/>
            <dgm:constr type="w" for="ch" forName="dot" refType="h" fact="0.14"/>
            <dgm:constr type="h" for="ch" forName="dot" refType="h" fact="0.14"/>
            <dgm:constr type="l" for="ch" forName="descText" refType="w" fact="0.379"/>
            <dgm:constr type="ctrY" for="ch" forName="descText" refType="h" fact="0.5"/>
            <dgm:constr type="w" for="ch" forName="descText" refType="w" fact="0.621"/>
            <dgm:constr type="h" for="ch" forName="descText" refType="h"/>
          </dgm:constrLst>
          <dgm:ruleLst/>
          <dgm:layoutNode name="ancho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itleText" styleLbl="revTx">
            <dgm:varLst>
              <dgm:chMax val="0"/>
              <dgm:chPref val="0"/>
            </dgm:varLst>
            <dgm:alg type="tx">
              <dgm:param type="txAnchorVert" val="mid"/>
              <dgm:param type="parTxLTRAlign" val="r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presOf axis="self" ptType="node"/>
            <dgm:constrLst>
              <dgm:constr type="primFontSz" val="28"/>
              <dgm:constr type="lMarg" refType="primFontSz" fact="0.1"/>
              <dgm:constr type="rMarg" refType="primFontSz" fact="0.3"/>
              <dgm:constr type="tMarg" refType="primFontSz" fact="0.05"/>
              <dgm:constr type="bMarg" refType="primFontSz" fact="0.05"/>
            </dgm:constrLst>
            <dgm:ruleLst>
              <dgm:rule type="primFontSz" val="8" fact="NaN" max="NaN"/>
            </dgm:ruleLst>
          </dgm:layoutNode>
          <dgm:layoutNode name="dot" styleLbl="node1NoLn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descText" styleLbl="revTx">
            <dgm:varLst>
              <dgm:chMax val="0"/>
              <dgm:chPref val="0"/>
            </dgm:varLst>
            <dgm:alg type="tx">
              <dgm:param type="txAnchorVert" val="mid"/>
              <dgm:param type="parTxLTRAlign" val="l"/>
              <dgm:param type="parTxRTLAlign" val="r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secFontSz" val="18"/>
              <dgm:constr type="primFontSz" refType="secFontSz"/>
              <dgm:constr type="lMarg" refType="primFontSz" fact="0.3"/>
              <dgm:constr type="rMarg" refType="primFontSz" fact="0.1"/>
              <dgm:constr type="tMarg" refType="primFontSz" fact="0.05"/>
              <dgm:constr type="bMarg" refType="primFontSz" fact="0.05"/>
            </dgm:constrLst>
            <dgm:ruleLst>
              <dgm:rule type="primFontSz" val="7" fact="NaN" max="NaN"/>
            </dgm:ruleLst>
          </dgm:layoutNode>
        </dgm:layoutNode>
        <dgm:forEach name="sibTransForEach" axis="followSib" ptType="sibTrans" cnt="1">
          <dgm:layoutNode name="spac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defRPr b="1">
            <a:solidFill>
              <a:schemeClr val="accent1"/>
            </a:solidFill>
          </a:defRPr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26/layout/TextCardShortLine">
  <dgm:title val=""/>
  <dgm:desc val=""/>
  <dgm:catLst>
    <dgm:cat type="textcard" pri="104"/>
  </dgm:catLst>
  <dgm:sampData>
    <dgm:dataModel>
      <dgm:ptLst>
        <dgm:pt modelId="0" type="doc"/>
        <dgm:pt modelId="10">
          <dgm:prSet phldrT="Title" phldr="1"/>
        </dgm:pt>
        <dgm:pt modelId="11">
          <dgm:prSet phldrT="Description" phldr="1"/>
        </dgm:pt>
        <dgm:pt modelId="20">
          <dgm:prSet phldrT="Title" phldr="1"/>
        </dgm:pt>
        <dgm:pt modelId="21">
          <dgm:prSet phldrT="Description" phldr="1"/>
        </dgm:pt>
        <dgm:pt modelId="30">
          <dgm:prSet phldrT="Title" phldr="1"/>
        </dgm:pt>
        <dgm:pt modelId="31">
          <dgm:prSet phldrT="Description" phldr="1"/>
        </dgm:pt>
      </dgm:ptLst>
      <dgm:cxnLst>
        <dgm:cxn modelId="100" srcId="0" destId="10" srcOrd="0" destOrd="0"/>
        <dgm:cxn modelId="101" srcId="10" destId="11" srcOrd="0" destOrd="0"/>
        <dgm:cxn modelId="102" srcId="0" destId="20" srcOrd="1" destOrd="0"/>
        <dgm:cxn modelId="103" srcId="20" destId="21" srcOrd="0" destOrd="0"/>
        <dgm:cxn modelId="104" srcId="0" destId="30" srcOrd="2" destOrd="0"/>
        <dgm:cxn modelId="105" srcId="30" destId="3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choose name="RowBalLTR">
          <dgm:if name="RB1" axis="ch" ptType="node" func="cnt" op="lte" val="4">
            <dgm:alg type="snake">
              <dgm:param type="grDir" val="tL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</dgm:alg>
          </dgm:if>
          <dgm:else name="RB2">
            <dgm:alg type="snake">
              <dgm:param type="grDir" val="tL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  <dgm:param type="bkpt" val="bal"/>
            </dgm:alg>
          </dgm:else>
        </dgm:choose>
      </dgm:if>
      <dgm:else name="Name2">
        <dgm:choose name="RowBalRTL">
          <dgm:if name="RB3" axis="ch" ptType="node" func="cnt" op="lte" val="4">
            <dgm:alg type="snake">
              <dgm:param type="grDir" val="tR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</dgm:alg>
          </dgm:if>
          <dgm:else name="RB4">
            <dgm:alg type="snake">
              <dgm:param type="grDir" val="tR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  <dgm:param type="bkpt" val="bal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w" for="ch" forName="compNode" refType="w" fact="0.3"/>
          <dgm:constr type="h" for="ch" forName="compNode" refType="h" fact="0.667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if name="Name5" axis="ch" ptType="node" func="cnt" op="lte" val="3">
        <dgm:constrLst>
          <dgm:constr type="w" for="ch" forName="compNode" refType="w" fact="0.3"/>
          <dgm:constr type="h" for="ch" forName="compNode" refType="h" fact="0.667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if name="Name5b" axis="ch" ptType="node" func="cnt" op="lte" val="4">
        <dgm:constrLst>
          <dgm:constr type="w" for="ch" forName="compNode" refType="w" fact="0.22"/>
          <dgm:constr type="h" for="ch" forName="compNode" refType="h" fact="0.667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if name="Name6" axis="ch" ptType="node" func="cnt" op="lte" val="6">
        <dgm:constrLst>
          <dgm:constr type="w" for="ch" forName="compNode" refType="w" fact="0.3"/>
          <dgm:constr type="h" for="ch" forName="compNode" refType="h" fact="0.667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else name="Name7">
        <dgm:constrLst>
          <dgm:constr type="w" for="ch" forName="compNode" refType="w" fact="0.3"/>
          <dgm:constr type="h" for="ch" forName="compNode" refType="h" fact="0.667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else>
    </dgm:choose>
    <dgm:ruleLst>
      <dgm:rule type="h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l" for="ch" forName="accentLine"/>
          <dgm:constr type="t" for="ch" forName="accentLine"/>
          <dgm:constr type="w" for="ch" forName="accentLine" refType="w" fact="0.22"/>
          <dgm:constr type="h" for="ch" forName="accentLine" refType="h" fact="0.012"/>
          <dgm:constr type="l" for="ch" forName="titleText"/>
          <dgm:constr type="t" for="ch" forName="titleText" refType="h" fact="0.083"/>
          <dgm:constr type="w" for="ch" forName="titleText" refType="w"/>
          <dgm:constr type="h" for="ch" forName="titleText" refType="h" fact="0.223"/>
          <dgm:constr type="l" for="ch" forName="bodyText"/>
          <dgm:constr type="t" for="ch" forName="bodyText" refType="h" fact="0.306"/>
          <dgm:constr type="w" for="ch" forName="bodyText" refType="w"/>
          <dgm:constr type="h" for="ch" forName="bodyText" refType="h" fact="0.694"/>
        </dgm:constrLst>
        <dgm:ruleLst/>
        <dgm:layoutNode name="accentLine" styleLbl="dkBgShp">
          <dgm:alg type="sp"/>
          <dgm:shape xmlns:r="http://schemas.openxmlformats.org/officeDocument/2006/relationships" type="rect" r:blip="">
            <dgm:adjLst/>
            <dgm:extLst>
              <a:ext uri="{B698B0E9-8C71-41B9-8309-B3DCBF30829C}">
                <dgm1612:spPr xmlns:dgm1612="http://schemas.microsoft.com/office/drawing/2016/12/diagram">
                  <a:solidFill>
                    <a:schemeClr val="accent1"/>
                  </a:solidFill>
                </dgm1612:spPr>
              </a:ext>
            </dgm:extLst>
          </dgm:shape>
          <dgm:presOf/>
          <dgm:constrLst/>
          <dgm:ruleLst/>
        </dgm:layoutNode>
        <dgm:layoutNode name="titleText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8" fact="NaN" max="NaN"/>
          </dgm:ruleLst>
        </dgm:layoutNode>
        <dgm:layoutNode name="bodyText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7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0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tNode1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dk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8C2A49D-3FAD-FF09-9205-D74FFCDD30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8B74E7-0CAC-EA2F-5348-0900ADEF055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792427-5945-4F66-826C-DA176450A906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1364EE-5F51-2236-464B-3E2D3E22B7B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FF09A5-6DD2-43D0-8D5A-A9778147A9B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FFCB24-70A4-4304-AD3A-E323D2FAE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82828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EF578B-A3E7-4CB1-827E-BD14724FC62B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C614E2-E767-47F0-A970-3AB0C7FC7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85379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8735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Links to sources:</a:t>
            </a:r>
            <a:br>
              <a:rPr lang="en-US" dirty="0"/>
            </a:br>
            <a:r>
              <a:rPr lang="en-US" dirty="0"/>
              <a:t>https://www.mdpi.com/2227-7390/13/17/2747</a:t>
            </a:r>
          </a:p>
          <a:p>
            <a:r>
              <a:rPr lang="en-US" dirty="0"/>
              <a:t>https://arxiv.org/pdf/2510.07920</a:t>
            </a:r>
          </a:p>
          <a:p>
            <a:r>
              <a:rPr lang="en-US" dirty="0"/>
              <a:t>https://arxiv.org/html/2605.23959</a:t>
            </a:r>
          </a:p>
          <a:p>
            <a:endParaRPr lang="en-US" dirty="0"/>
          </a:p>
          <a:p>
            <a:r>
              <a:rPr lang="en-US" dirty="0"/>
              <a:t>"When Alpha Disappears" as a 2026 preprint (not peer-reviewed) </a:t>
            </a:r>
          </a:p>
        </p:txBody>
      </p:sp>
    </p:spTree>
    <p:extLst>
      <p:ext uri="{BB962C8B-B14F-4D97-AF65-F5344CB8AC3E}">
        <p14:creationId xmlns:p14="http://schemas.microsoft.com/office/powerpoint/2010/main" val="5687458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 be replaced by Applicable Seoul Accord characteristics</a:t>
            </a:r>
          </a:p>
        </p:txBody>
      </p:sp>
    </p:spTree>
    <p:extLst>
      <p:ext uri="{BB962C8B-B14F-4D97-AF65-F5344CB8AC3E}">
        <p14:creationId xmlns:p14="http://schemas.microsoft.com/office/powerpoint/2010/main" val="42573982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 flow diagram here</a:t>
            </a:r>
          </a:p>
        </p:txBody>
      </p:sp>
    </p:spTree>
    <p:extLst>
      <p:ext uri="{BB962C8B-B14F-4D97-AF65-F5344CB8AC3E}">
        <p14:creationId xmlns:p14="http://schemas.microsoft.com/office/powerpoint/2010/main" val="1526667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FD281-32EE-FFFA-D69D-4213FECC3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CBE617-A9AB-F58A-BF08-45FB27C6F0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61AAE9-19CF-60A7-15C8-4D363BFC60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ea typeface="Calibri" pitchFamily="34" charset="-122"/>
                <a:cs typeface="Calibri" pitchFamily="34" charset="-120"/>
              </a:rPr>
              <a:t>No novelty in sentiment scoring, gradient boosting, SHAP-to-text, or QLoRA — all are engineering inputs. And no profit claim of any kind.</a:t>
            </a:r>
            <a:endParaRPr lang="en-US" sz="1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20543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3EB16-AF2B-068D-DC67-3AD82F773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DF6365-CCD5-74CE-88B9-2766FA5CE8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C7AE4A-A6D0-68A4-CBDC-3AA0CD5DA5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1407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96235-39CD-9A6A-8914-4FA035878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B1D9F6-B571-F973-9CC6-1102AD28DF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C94A0C-3AE6-407B-92E6-4542A59E02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08736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FF315-F071-ABA3-17E8-F66B5E020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632D22-089F-BB85-F94E-9613168880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877151-B942-ED8B-3B80-68B6F4C3E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dirty="0"/>
              <a:t>Can be added: </a:t>
            </a:r>
            <a:br>
              <a:rPr lang="en-US" dirty="0"/>
            </a:br>
            <a:r>
              <a:rPr lang="en-US" b="1" dirty="0"/>
              <a:t>Explanation Verification Thresholds</a:t>
            </a:r>
            <a:r>
              <a:rPr lang="en-US" dirty="0"/>
              <a:t> </a:t>
            </a:r>
            <a:r>
              <a:rPr lang="en-US" i="1" dirty="0"/>
              <a:t>(new subsection)</a:t>
            </a:r>
            <a:endParaRPr lang="en-US" dirty="0"/>
          </a:p>
          <a:p>
            <a:pPr lvl="0" rtl="0"/>
            <a:r>
              <a:rPr lang="en-US" dirty="0"/>
              <a:t>Numeric fidelity ≥ 0.98</a:t>
            </a:r>
          </a:p>
          <a:p>
            <a:pPr lvl="0" rtl="0"/>
            <a:r>
              <a:rPr lang="en-US" dirty="0"/>
              <a:t>Directional consistency ≥ 0.95</a:t>
            </a:r>
          </a:p>
          <a:p>
            <a:pPr lvl="0" rtl="0"/>
            <a:r>
              <a:rPr lang="en-US" dirty="0"/>
              <a:t>Claim recall ≥ 0.80</a:t>
            </a:r>
          </a:p>
          <a:p>
            <a:pPr lvl="0" rtl="0"/>
            <a:r>
              <a:rPr lang="en-US" dirty="0"/>
              <a:t>Unverifiable-claim rate ≤ 0.15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0002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93F06-BCED-9537-BA61-54B893681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22DEB6-7D1B-91C8-8D6F-186E472A91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DA483D-2830-CE52-3CEE-AAF7785592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80807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6D00C-51CB-766B-B267-AF88D3927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05B776-D395-7BAF-336C-330A12BCCF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370F12-9DC9-DD07-B306-8DA7800065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5221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AB913-E331-F430-B5D5-80B87E6B5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1B8B96-BDCE-3D46-018E-7AECC80830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ED8DB6-422A-52CE-78BB-DE5285CCA0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5747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FAQs can be Added </a:t>
            </a:r>
          </a:p>
        </p:txBody>
      </p:sp>
    </p:spTree>
    <p:extLst>
      <p:ext uri="{BB962C8B-B14F-4D97-AF65-F5344CB8AC3E}">
        <p14:creationId xmlns:p14="http://schemas.microsoft.com/office/powerpoint/2010/main" val="4012030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135B7-0ADF-921E-3332-76CC09C8E1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63F149-CA23-FD54-EEA8-CE447E353D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DC5747-01DD-2969-F773-910011748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C8E38-2E95-4B54-94B5-59D6D568E300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B019FB-DC70-C7AE-20F5-550E5FCFF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8FDE9-5472-D9E4-75DB-F4333FDCB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1D4BD-E62D-47AB-8189-7EA24C429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931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F0F02-E120-B40C-1361-73D387727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ECCCA-6B13-79C4-B131-1F41C42FB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83858-C8AF-E871-5E33-8452AF460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ACF0-0226-4E3F-915A-207D215E8F12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AA366-EB24-B013-EA0B-278CCF9D0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0A2DA6-B864-4CB9-229F-A120C232D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1D4BD-E62D-47AB-8189-7EA24C429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76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8EE40-6501-E6D9-2128-7274ECE10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F43F24-B604-19C3-8BF0-2BCCA6E15B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962736-A30C-BCB1-71AD-47D0FF577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38659-0AE9-4B0E-9D58-BA4AC9DBEA2F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BE57B-0C3E-4AE1-3E28-B6002A3E3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0B12F6-EBE3-4573-BE7F-0B1A62D78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1D4BD-E62D-47AB-8189-7EA24C429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075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464AD-6A0F-495E-C01F-77A5846D5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2112E-1052-397B-91CA-72F45A3AF1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1D5704-8544-1247-EB06-AF362633E6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F4242D-1ADD-A514-63B6-F0D8AC7E2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B9987-FB9D-4DB1-9071-DC353148C1BD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B7EB9-F5B5-47E7-0A7E-D7207D062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1E23DA-61E4-388E-1116-7AC0431D2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1D4BD-E62D-47AB-8189-7EA24C429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45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8AA32-5ED8-3EC0-69C4-D0347B2B8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72A638-F34B-D98A-7B04-8D13CFAF09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399EE0-3BF2-5B52-0375-6851F9642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C80D72-8351-DD71-F4E6-C8D6BFBE72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E87EE6-3DA0-D88D-EC66-A101A4A4E0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DAE2BB-2C14-68BA-2CED-6065E5A1B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95E9D-9D1F-4750-93E4-95D15F168F77}" type="datetime1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478EA5-1299-4690-5755-6C2915A3C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E76985-343F-2F99-E540-873430B9C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1D4BD-E62D-47AB-8189-7EA24C429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126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FA656-BD2C-89A0-8661-F434BEDBD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C0C370-663D-FFAF-6479-8D02893C0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53AE3-DACD-423C-B06D-D4ABAA9C5DF2}" type="datetime1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DF9E9A-FA7A-6E85-AB17-FAF6BFBBE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BA90D8-1DA2-202F-43F0-6CE65C521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1D4BD-E62D-47AB-8189-7EA24C429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503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CA3F18-B8D2-F161-060B-5F532850C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DA121-586A-4CDF-824D-192EFBD8E418}" type="datetime1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876CDB-5587-7B6B-1CE5-B6643CFE4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8C7B95-4CA8-F076-A3F8-1943F46CB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1D4BD-E62D-47AB-8189-7EA24C429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46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A2E01-559E-B7B0-D18B-EF5EB9001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30209-D67E-5EA0-1502-E09EAA87F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427E3D-4205-0751-E9E8-E68916FF17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26DA74-68C1-C1A4-EA74-A3AEF06D6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495FF-FCC1-44C8-9F97-746B7CDC6374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B7D55A-07F8-E592-AB44-E40A59B14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18BB49-E750-E7EE-5B6C-872AE64FE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1D4BD-E62D-47AB-8189-7EA24C429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528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099B4-7220-5E59-C528-C9AE5E297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37E69D-67AE-EB22-721F-2488C73ACA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A9C2BA-DEE5-8AB5-43E0-6E2FFC24B4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297F3D-6CA0-2315-5D7C-B7612165C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7586A-442B-474F-8CBE-9812514A6431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B59C2A-11CD-37EA-D4EE-D33DEAC8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FD7B8F-05F3-72D1-696C-37289DCC6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1D4BD-E62D-47AB-8189-7EA24C429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786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692AA-0589-AB03-9F77-7ED5C1843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0618DB-050C-9436-E8A6-98BBEE48B4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94714-94C8-1AC9-21EA-62FAE96A1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F4DB-E922-4945-9B96-990469CC9828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818B71-0A52-BCD6-C2FA-48D0C49C0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5501C-8533-A472-0900-14DE308FF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1D4BD-E62D-47AB-8189-7EA24C429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069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60C96B-2C08-952C-0E3B-DE926497D0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37861B-A55D-DE11-5B84-71F504903C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140ED1-626B-FA8D-2304-D6E12159B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78899-25DC-4A72-812B-5C3B3BD51A44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90F28-0E3D-8359-DF74-397698963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4DDEF-7368-3A00-DA86-F314C44CE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1D4BD-E62D-47AB-8189-7EA24C429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303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61364E-B53C-81D1-4B7E-B0EBD9A87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54162-D333-A1D3-1AF6-AAF9D8B3A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5491A4-7C3F-4593-3454-764938DCE9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BA0BCD-BD21-439B-A798-4EF872085251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F0F28D-7FC4-4C38-9010-712D961618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0CA42-C2B0-12D1-E58F-5661A531C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B1D4BD-E62D-47AB-8189-7EA24C429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816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D0E91-8F21-BABC-FFBC-A17973DF20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99587"/>
            <a:ext cx="9144000" cy="1001225"/>
          </a:xfrm>
        </p:spPr>
        <p:txBody>
          <a:bodyPr/>
          <a:lstStyle/>
          <a:p>
            <a:r>
              <a:rPr lang="en-US" b="1" dirty="0">
                <a:latin typeface="Bahnschrift" panose="020B0502040204020203" pitchFamily="34" charset="0"/>
              </a:rPr>
              <a:t>Investify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079484-FCAF-E04B-6E60-C6DBC5A4DA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1323" y="2335946"/>
            <a:ext cx="10949354" cy="1655762"/>
          </a:xfrm>
        </p:spPr>
        <p:txBody>
          <a:bodyPr>
            <a:normAutofit/>
          </a:bodyPr>
          <a:lstStyle/>
          <a:p>
            <a:r>
              <a:rPr lang="en-US" dirty="0"/>
              <a:t>A personalized stock investment advisor that reasons over point-in-time data and backs every recommendation with a SHAP-explained rationale.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ACE2CAD-27B1-D04F-27A9-F6D7A3D22704}"/>
              </a:ext>
            </a:extLst>
          </p:cNvPr>
          <p:cNvSpPr txBox="1">
            <a:spLocks/>
          </p:cNvSpPr>
          <p:nvPr/>
        </p:nvSpPr>
        <p:spPr>
          <a:xfrm>
            <a:off x="4756484" y="3442266"/>
            <a:ext cx="2679032" cy="5627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Bahnschrift" panose="020B0502040204020203" pitchFamily="34" charset="0"/>
              </a:rPr>
              <a:t>Supervisor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6F4C614-3BB2-52F4-106B-84F44BCEFD56}"/>
              </a:ext>
            </a:extLst>
          </p:cNvPr>
          <p:cNvSpPr txBox="1">
            <a:spLocks/>
          </p:cNvSpPr>
          <p:nvPr/>
        </p:nvSpPr>
        <p:spPr>
          <a:xfrm>
            <a:off x="4756484" y="4004974"/>
            <a:ext cx="2679032" cy="5627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latin typeface="+mn-lt"/>
              </a:rPr>
              <a:t>Mr. Irfan Ullah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01A3CB7-909E-7D6B-CBAB-D99316B1B9E6}"/>
              </a:ext>
            </a:extLst>
          </p:cNvPr>
          <p:cNvSpPr txBox="1">
            <a:spLocks/>
          </p:cNvSpPr>
          <p:nvPr/>
        </p:nvSpPr>
        <p:spPr>
          <a:xfrm>
            <a:off x="4756484" y="4498918"/>
            <a:ext cx="2679032" cy="5627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Bahnschrift" panose="020B0502040204020203" pitchFamily="34" charset="0"/>
              </a:rPr>
              <a:t>Members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7143A1C-7350-2E02-D1F5-940F267C8D24}"/>
              </a:ext>
            </a:extLst>
          </p:cNvPr>
          <p:cNvSpPr txBox="1">
            <a:spLocks/>
          </p:cNvSpPr>
          <p:nvPr/>
        </p:nvSpPr>
        <p:spPr>
          <a:xfrm>
            <a:off x="4772526" y="5106696"/>
            <a:ext cx="2679032" cy="109305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latin typeface="+mn-lt"/>
              </a:rPr>
              <a:t>Ahmed Javaid</a:t>
            </a:r>
          </a:p>
          <a:p>
            <a:r>
              <a:rPr lang="en-US" sz="2400" dirty="0">
                <a:latin typeface="+mn-lt"/>
              </a:rPr>
              <a:t>Rafay Ul Haq</a:t>
            </a:r>
          </a:p>
          <a:p>
            <a:r>
              <a:rPr lang="en-US" sz="2400" dirty="0">
                <a:latin typeface="+mn-lt"/>
              </a:rPr>
              <a:t>Soban Ahmad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E5888C-BC80-8434-6FF9-76FA3FDF8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1D4BD-E62D-47AB-8189-7EA24C4296D1}" type="slidenum">
              <a:rPr lang="en-US" smtClean="0"/>
              <a:t>1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06946F-F4E5-4C06-AB12-7BAE920E9C70}"/>
              </a:ext>
            </a:extLst>
          </p:cNvPr>
          <p:cNvSpPr/>
          <p:nvPr/>
        </p:nvSpPr>
        <p:spPr>
          <a:xfrm>
            <a:off x="0" y="336333"/>
            <a:ext cx="12192000" cy="4545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044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DFC64-D62D-A944-049D-19220B870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950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latin typeface="Bahnschrift" panose="020B0502040204020203" pitchFamily="34" charset="0"/>
              </a:rPr>
              <a:t>Problems and Users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22CD9-842A-6205-8F11-0C4BE6D729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2926" y="2406316"/>
            <a:ext cx="11486147" cy="38121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Bahnschrift" panose="020B0502040204020203" pitchFamily="34" charset="0"/>
              </a:rPr>
              <a:t>End users: </a:t>
            </a:r>
            <a:r>
              <a:rPr lang="en-US" sz="2400" dirty="0"/>
              <a:t>Investors using AI-powered advisory platforms </a:t>
            </a:r>
          </a:p>
          <a:p>
            <a:pPr marL="0" indent="0">
              <a:buNone/>
            </a:pPr>
            <a:endParaRPr lang="en-US" sz="2400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r>
              <a:rPr lang="en-US" sz="2400" b="1" dirty="0">
                <a:latin typeface="Bahnschrift" panose="020B0502040204020203" pitchFamily="34" charset="0"/>
              </a:rPr>
              <a:t>Current Workflow:</a:t>
            </a:r>
            <a:r>
              <a:rPr lang="en-US" sz="2400" dirty="0">
                <a:latin typeface="Bahnschrift" panose="020B0502040204020203" pitchFamily="34" charset="0"/>
              </a:rPr>
              <a:t> </a:t>
            </a:r>
            <a:r>
              <a:rPr lang="en-US" sz="2400" dirty="0"/>
              <a:t>Users get a Buy/Hold/Sell call with little insight into why and no guarantee the model wasn’t trained on future information </a:t>
            </a:r>
          </a:p>
          <a:p>
            <a:pPr marL="0" indent="0">
              <a:buNone/>
            </a:pPr>
            <a:endParaRPr lang="en-US" sz="2400" b="1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r>
              <a:rPr lang="en-US" sz="2400" b="1" dirty="0">
                <a:latin typeface="Bahnschrift" panose="020B0502040204020203" pitchFamily="34" charset="0"/>
              </a:rPr>
              <a:t>Why it matters: </a:t>
            </a:r>
            <a:r>
              <a:rPr lang="en-US" sz="2400" dirty="0"/>
              <a:t>Temporal data leakage makes models look accurate in back-tests but may fail in live trading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C97490-449D-649E-8F36-81D271E4E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1D4BD-E62D-47AB-8189-7EA24C4296D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582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4F21E-7EDB-9161-6126-E42AECF1D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697118"/>
          </a:xfrm>
        </p:spPr>
        <p:txBody>
          <a:bodyPr>
            <a:noAutofit/>
          </a:bodyPr>
          <a:lstStyle/>
          <a:p>
            <a:r>
              <a:rPr lang="en-US" b="1" dirty="0">
                <a:latin typeface="Bahnschrift" panose="020B0502040204020203" pitchFamily="34" charset="0"/>
              </a:rPr>
              <a:t>Existing Solutions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1E5D56-CE32-329A-197F-59DFE349A2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20581" y="430663"/>
            <a:ext cx="3531631" cy="523875"/>
          </a:xfrm>
        </p:spPr>
        <p:txBody>
          <a:bodyPr/>
          <a:lstStyle/>
          <a:p>
            <a:r>
              <a:rPr lang="en-US" dirty="0"/>
              <a:t>Product Comparison Table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96C941B-89B2-BFBC-02A9-28AD0EC4DC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4472282"/>
              </p:ext>
            </p:extLst>
          </p:nvPr>
        </p:nvGraphicFramePr>
        <p:xfrm>
          <a:off x="839788" y="1184489"/>
          <a:ext cx="10515603" cy="4998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5762">
                  <a:extLst>
                    <a:ext uri="{9D8B030D-6E8A-4147-A177-3AD203B41FA5}">
                      <a16:colId xmlns:a16="http://schemas.microsoft.com/office/drawing/2014/main" val="2988256551"/>
                    </a:ext>
                  </a:extLst>
                </a:gridCol>
                <a:gridCol w="1348696">
                  <a:extLst>
                    <a:ext uri="{9D8B030D-6E8A-4147-A177-3AD203B41FA5}">
                      <a16:colId xmlns:a16="http://schemas.microsoft.com/office/drawing/2014/main" val="2943435723"/>
                    </a:ext>
                  </a:extLst>
                </a:gridCol>
                <a:gridCol w="1384979">
                  <a:extLst>
                    <a:ext uri="{9D8B030D-6E8A-4147-A177-3AD203B41FA5}">
                      <a16:colId xmlns:a16="http://schemas.microsoft.com/office/drawing/2014/main" val="354769983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087880189"/>
                    </a:ext>
                  </a:extLst>
                </a:gridCol>
                <a:gridCol w="1323975">
                  <a:extLst>
                    <a:ext uri="{9D8B030D-6E8A-4147-A177-3AD203B41FA5}">
                      <a16:colId xmlns:a16="http://schemas.microsoft.com/office/drawing/2014/main" val="3150371496"/>
                    </a:ext>
                  </a:extLst>
                </a:gridCol>
                <a:gridCol w="1628775">
                  <a:extLst>
                    <a:ext uri="{9D8B030D-6E8A-4147-A177-3AD203B41FA5}">
                      <a16:colId xmlns:a16="http://schemas.microsoft.com/office/drawing/2014/main" val="1001505875"/>
                    </a:ext>
                  </a:extLst>
                </a:gridCol>
                <a:gridCol w="1649416">
                  <a:extLst>
                    <a:ext uri="{9D8B030D-6E8A-4147-A177-3AD203B41FA5}">
                      <a16:colId xmlns:a16="http://schemas.microsoft.com/office/drawing/2014/main" val="1512826212"/>
                    </a:ext>
                  </a:extLst>
                </a:gridCol>
              </a:tblGrid>
              <a:tr h="661240"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latin typeface="Bahnschrift" panose="020B0502040204020203" pitchFamily="34" charset="0"/>
                      </a:endParaRPr>
                    </a:p>
                    <a:p>
                      <a:pPr algn="ctr"/>
                      <a:r>
                        <a:rPr lang="en-US" sz="1400" b="1" dirty="0">
                          <a:latin typeface="Bahnschrift" panose="020B0502040204020203" pitchFamily="34" charset="0"/>
                        </a:rP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Bahnschrift" panose="020B0502040204020203" pitchFamily="34" charset="0"/>
                        </a:rPr>
                        <a:t>Robo-Advisors</a:t>
                      </a:r>
                    </a:p>
                    <a:p>
                      <a:pPr algn="ctr"/>
                      <a:r>
                        <a:rPr lang="en-US" sz="1400" b="1" dirty="0">
                          <a:latin typeface="Bahnschrift" panose="020B0502040204020203" pitchFamily="34" charset="0"/>
                        </a:rPr>
                        <a:t>eg Wealthfront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Bahnschrift" panose="020B0502040204020203" pitchFamily="34" charset="0"/>
                        </a:rPr>
                        <a:t>AI Stock </a:t>
                      </a:r>
                    </a:p>
                    <a:p>
                      <a:pPr algn="ctr"/>
                      <a:r>
                        <a:rPr lang="en-US" sz="1400" b="1" dirty="0">
                          <a:latin typeface="Bahnschrift" panose="020B0502040204020203" pitchFamily="34" charset="0"/>
                        </a:rPr>
                        <a:t>Scoring Apps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Bahnschrift" panose="020B0502040204020203" pitchFamily="34" charset="0"/>
                        </a:rPr>
                        <a:t>Sentiment-only tools eg StockTwits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Bahnschrift" panose="020B0502040204020203" pitchFamily="34" charset="0"/>
                        </a:rPr>
                        <a:t>Professional Terminals eg</a:t>
                      </a:r>
                    </a:p>
                    <a:p>
                      <a:pPr algn="ctr"/>
                      <a:r>
                        <a:rPr lang="en-US" sz="1400" b="1" dirty="0">
                          <a:latin typeface="Bahnschrift" panose="020B0502040204020203" pitchFamily="34" charset="0"/>
                        </a:rPr>
                        <a:t>Bloomberg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Bahnschrift" panose="020B0502040204020203" pitchFamily="34" charset="0"/>
                        </a:rPr>
                        <a:t>Published </a:t>
                      </a:r>
                    </a:p>
                    <a:p>
                      <a:pPr algn="ctr"/>
                      <a:r>
                        <a:rPr lang="en-US" sz="1400" b="1" dirty="0">
                          <a:latin typeface="Bahnschrift" panose="020B0502040204020203" pitchFamily="34" charset="0"/>
                        </a:rPr>
                        <a:t>FinBERT + SHAP 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latin typeface="Bahnschrift" panose="020B0502040204020203" pitchFamily="34" charset="0"/>
                      </a:endParaRPr>
                    </a:p>
                    <a:p>
                      <a:pPr algn="ctr"/>
                      <a:r>
                        <a:rPr lang="en-US" sz="1400" b="1" dirty="0">
                          <a:latin typeface="Bahnschrift" panose="020B0502040204020203" pitchFamily="34" charset="0"/>
                        </a:rPr>
                        <a:t>Investify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0172479"/>
                  </a:ext>
                </a:extLst>
              </a:tr>
              <a:tr h="516618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Bahnschrift" panose="020B0502040204020203" pitchFamily="34" charset="0"/>
                        </a:rPr>
                        <a:t>Personalized risk profiling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+mn-lt"/>
                      </a:endParaRPr>
                    </a:p>
                    <a:p>
                      <a:pPr algn="ctr"/>
                      <a:r>
                        <a:rPr lang="en-US" sz="1400" dirty="0">
                          <a:latin typeface="+mn-lt"/>
                        </a:rPr>
                        <a:t>Basic questionnaire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+mn-lt"/>
                      </a:endParaRPr>
                    </a:p>
                    <a:p>
                      <a:pPr algn="ctr"/>
                      <a:r>
                        <a:rPr lang="en-US" sz="1400" dirty="0">
                          <a:latin typeface="+mn-lt"/>
                        </a:rPr>
                        <a:t>Capacity + </a:t>
                      </a:r>
                    </a:p>
                    <a:p>
                      <a:pPr algn="ctr"/>
                      <a:r>
                        <a:rPr lang="en-US" sz="1400" dirty="0">
                          <a:latin typeface="+mn-lt"/>
                        </a:rPr>
                        <a:t>Grable–Lytton scale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680203"/>
                  </a:ext>
                </a:extLst>
              </a:tr>
              <a:tr h="516618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Bahnschrift" panose="020B0502040204020203" pitchFamily="34" charset="0"/>
                        </a:rPr>
                        <a:t>Formal + informal sentiment fusion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+mn-lt"/>
                      </a:endParaRPr>
                    </a:p>
                    <a:p>
                      <a:pPr algn="ctr"/>
                      <a:endParaRPr lang="en-US" sz="1400" dirty="0">
                        <a:latin typeface="+mn-lt"/>
                      </a:endParaRPr>
                    </a:p>
                    <a:p>
                      <a:pPr algn="ctr"/>
                      <a:r>
                        <a:rPr lang="en-US" sz="1400" dirty="0">
                          <a:latin typeface="+mn-lt"/>
                        </a:rPr>
                        <a:t>Formal </a:t>
                      </a:r>
                    </a:p>
                    <a:p>
                      <a:pPr algn="ctr"/>
                      <a:r>
                        <a:rPr lang="en-US" sz="1400" dirty="0">
                          <a:latin typeface="+mn-lt"/>
                        </a:rPr>
                        <a:t>news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+mn-lt"/>
                      </a:endParaRPr>
                    </a:p>
                    <a:p>
                      <a:pPr algn="ctr"/>
                      <a:endParaRPr lang="en-US" sz="1400" dirty="0">
                        <a:latin typeface="+mn-lt"/>
                      </a:endParaRPr>
                    </a:p>
                    <a:p>
                      <a:pPr algn="ctr"/>
                      <a:r>
                        <a:rPr lang="en-US" sz="1400" dirty="0">
                          <a:latin typeface="+mn-lt"/>
                        </a:rPr>
                        <a:t>Informal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+mn-lt"/>
                      </a:endParaRPr>
                    </a:p>
                    <a:p>
                      <a:pPr algn="ctr"/>
                      <a:r>
                        <a:rPr lang="en-US" sz="1400" dirty="0">
                          <a:latin typeface="+mn-lt"/>
                        </a:rPr>
                        <a:t>News only </a:t>
                      </a:r>
                    </a:p>
                    <a:p>
                      <a:pPr algn="ctr"/>
                      <a:r>
                        <a:rPr lang="en-US" sz="1400" dirty="0">
                          <a:latin typeface="+mn-lt"/>
                        </a:rPr>
                        <a:t>Single </a:t>
                      </a:r>
                    </a:p>
                    <a:p>
                      <a:pPr algn="ctr"/>
                      <a:r>
                        <a:rPr lang="en-US" sz="1400" dirty="0">
                          <a:latin typeface="+mn-lt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+mn-lt"/>
                      </a:endParaRPr>
                    </a:p>
                    <a:p>
                      <a:pPr algn="ctr"/>
                      <a:endParaRPr lang="en-US" sz="1400" dirty="0">
                        <a:latin typeface="+mn-lt"/>
                      </a:endParaRPr>
                    </a:p>
                    <a:p>
                      <a:pPr algn="ctr"/>
                      <a:r>
                        <a:rPr lang="en-US" sz="1400" dirty="0">
                          <a:latin typeface="+mn-lt"/>
                        </a:rPr>
                        <a:t>FinBERT</a:t>
                      </a:r>
                    </a:p>
                    <a:p>
                      <a:pPr algn="ctr"/>
                      <a:r>
                        <a:rPr lang="en-US" sz="1400" dirty="0">
                          <a:latin typeface="+mn-lt"/>
                        </a:rPr>
                        <a:t>+ CryptoBERT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51300"/>
                  </a:ext>
                </a:extLst>
              </a:tr>
              <a:tr h="516618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Bahnschrift" panose="020B0502040204020203" pitchFamily="34" charset="0"/>
                        </a:rPr>
                        <a:t>Explainable predictions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+mn-lt"/>
                        </a:rPr>
                        <a:t>Generic </a:t>
                      </a:r>
                    </a:p>
                    <a:p>
                      <a:pPr algn="ctr"/>
                      <a:r>
                        <a:rPr lang="en-US" sz="1400" dirty="0">
                          <a:latin typeface="+mn-lt"/>
                        </a:rPr>
                        <a:t>score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+mn-lt"/>
                        </a:rPr>
                        <a:t>Not inspectable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+mn-lt"/>
                        </a:rPr>
                        <a:t>Tree SHAP + unverified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+mn-lt"/>
                      </a:endParaRPr>
                    </a:p>
                    <a:p>
                      <a:pPr algn="ctr"/>
                      <a:r>
                        <a:rPr lang="en-US" sz="1400" dirty="0">
                          <a:latin typeface="+mn-lt"/>
                        </a:rPr>
                        <a:t>Tree SHAP + verified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4120922"/>
                  </a:ext>
                </a:extLst>
              </a:tr>
              <a:tr h="516618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Bahnschrift" panose="020B0502040204020203" pitchFamily="34" charset="0"/>
                        </a:rPr>
                        <a:t>Leakage-safe 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+mn-lt"/>
                      </a:endParaRPr>
                    </a:p>
                    <a:p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+mn-lt"/>
                      </a:endParaRPr>
                    </a:p>
                    <a:p>
                      <a:pPr algn="ctr"/>
                      <a:r>
                        <a:rPr lang="en-US" sz="1400" dirty="0">
                          <a:latin typeface="+mn-lt"/>
                        </a:rPr>
                        <a:t>Not disclosed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+mn-lt"/>
                      </a:endParaRPr>
                    </a:p>
                    <a:p>
                      <a:pPr algn="ctr"/>
                      <a:r>
                        <a:rPr lang="en-US" sz="1400" dirty="0">
                          <a:latin typeface="+mn-lt"/>
                        </a:rPr>
                        <a:t>Calendar date </a:t>
                      </a:r>
                    </a:p>
                    <a:p>
                      <a:pPr algn="ctr"/>
                      <a:r>
                        <a:rPr lang="en-US" sz="1400" dirty="0">
                          <a:latin typeface="+mn-lt"/>
                        </a:rPr>
                        <a:t>align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+mn-lt"/>
                      </a:endParaRPr>
                    </a:p>
                    <a:p>
                      <a:pPr algn="ctr"/>
                      <a:r>
                        <a:rPr lang="en-US" sz="1400" dirty="0">
                          <a:latin typeface="+mn-lt"/>
                        </a:rPr>
                        <a:t>Walk forward </a:t>
                      </a:r>
                    </a:p>
                    <a:p>
                      <a:pPr algn="ctr"/>
                      <a:r>
                        <a:rPr lang="en-US" sz="1400" dirty="0">
                          <a:latin typeface="+mn-lt"/>
                        </a:rPr>
                        <a:t>+ point in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2546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Bahnschrift" panose="020B0502040204020203" pitchFamily="34" charset="0"/>
                        </a:rPr>
                        <a:t>Natural-language explanation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+mn-lt"/>
                      </a:endParaRPr>
                    </a:p>
                    <a:p>
                      <a:pPr algn="ctr"/>
                      <a:r>
                        <a:rPr lang="en-US" sz="1400" dirty="0">
                          <a:latin typeface="+mn-lt"/>
                        </a:rPr>
                        <a:t>LLM </a:t>
                      </a:r>
                    </a:p>
                    <a:p>
                      <a:pPr algn="ctr"/>
                      <a:r>
                        <a:rPr lang="en-US" sz="1400" dirty="0">
                          <a:latin typeface="+mn-lt"/>
                        </a:rPr>
                        <a:t>explanation layer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2954296"/>
                  </a:ext>
                </a:extLst>
              </a:tr>
            </a:tbl>
          </a:graphicData>
        </a:graphic>
      </p:graphicFrame>
      <p:pic>
        <p:nvPicPr>
          <p:cNvPr id="17" name="Graphic 16" descr="Checkmark">
            <a:extLst>
              <a:ext uri="{FF2B5EF4-FFF2-40B4-BE49-F238E27FC236}">
                <a16:creationId xmlns:a16="http://schemas.microsoft.com/office/drawing/2014/main" id="{D47F30D8-1A05-EBB6-5683-0660E7E174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2599" y="3142634"/>
            <a:ext cx="309930" cy="309930"/>
          </a:xfrm>
          <a:prstGeom prst="rect">
            <a:avLst/>
          </a:prstGeom>
        </p:spPr>
      </p:pic>
      <p:pic>
        <p:nvPicPr>
          <p:cNvPr id="19" name="Graphic 18" descr="Close">
            <a:extLst>
              <a:ext uri="{FF2B5EF4-FFF2-40B4-BE49-F238E27FC236}">
                <a16:creationId xmlns:a16="http://schemas.microsoft.com/office/drawing/2014/main" id="{B9126556-BB92-2E82-A59F-0FA72B1D05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35632" y="3124199"/>
            <a:ext cx="453366" cy="453366"/>
          </a:xfrm>
          <a:prstGeom prst="rect">
            <a:avLst/>
          </a:prstGeom>
        </p:spPr>
      </p:pic>
      <p:pic>
        <p:nvPicPr>
          <p:cNvPr id="39" name="Graphic 38" descr="Checkmark">
            <a:extLst>
              <a:ext uri="{FF2B5EF4-FFF2-40B4-BE49-F238E27FC236}">
                <a16:creationId xmlns:a16="http://schemas.microsoft.com/office/drawing/2014/main" id="{D96990A7-F73B-61D4-51DB-E79DF6A25F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5761" y="2823575"/>
            <a:ext cx="242047" cy="242047"/>
          </a:xfrm>
          <a:prstGeom prst="rect">
            <a:avLst/>
          </a:prstGeom>
        </p:spPr>
      </p:pic>
      <p:pic>
        <p:nvPicPr>
          <p:cNvPr id="49" name="Graphic 48" descr="Checkmark">
            <a:extLst>
              <a:ext uri="{FF2B5EF4-FFF2-40B4-BE49-F238E27FC236}">
                <a16:creationId xmlns:a16="http://schemas.microsoft.com/office/drawing/2014/main" id="{84AF2786-BF99-DF80-AD90-531AF76596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5761" y="4541904"/>
            <a:ext cx="242047" cy="242047"/>
          </a:xfrm>
          <a:prstGeom prst="rect">
            <a:avLst/>
          </a:prstGeom>
        </p:spPr>
      </p:pic>
      <p:pic>
        <p:nvPicPr>
          <p:cNvPr id="51" name="Graphic 50" descr="Checkmark">
            <a:extLst>
              <a:ext uri="{FF2B5EF4-FFF2-40B4-BE49-F238E27FC236}">
                <a16:creationId xmlns:a16="http://schemas.microsoft.com/office/drawing/2014/main" id="{E7375A7D-90E3-30C8-79DB-B87C02A522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5762" y="5275228"/>
            <a:ext cx="242047" cy="242047"/>
          </a:xfrm>
          <a:prstGeom prst="rect">
            <a:avLst/>
          </a:prstGeom>
        </p:spPr>
      </p:pic>
      <p:pic>
        <p:nvPicPr>
          <p:cNvPr id="53" name="Graphic 52" descr="Checkmark">
            <a:extLst>
              <a:ext uri="{FF2B5EF4-FFF2-40B4-BE49-F238E27FC236}">
                <a16:creationId xmlns:a16="http://schemas.microsoft.com/office/drawing/2014/main" id="{22DDC2B4-CB17-516D-D606-A0AF7D5C35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5761" y="3906450"/>
            <a:ext cx="242047" cy="242047"/>
          </a:xfrm>
          <a:prstGeom prst="rect">
            <a:avLst/>
          </a:prstGeom>
        </p:spPr>
      </p:pic>
      <p:pic>
        <p:nvPicPr>
          <p:cNvPr id="55" name="Graphic 54" descr="Checkmark">
            <a:extLst>
              <a:ext uri="{FF2B5EF4-FFF2-40B4-BE49-F238E27FC236}">
                <a16:creationId xmlns:a16="http://schemas.microsoft.com/office/drawing/2014/main" id="{5F108F23-0713-1EFB-FDE3-B3266C54B9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5760" y="1960245"/>
            <a:ext cx="242047" cy="242047"/>
          </a:xfrm>
          <a:prstGeom prst="rect">
            <a:avLst/>
          </a:prstGeom>
        </p:spPr>
      </p:pic>
      <p:pic>
        <p:nvPicPr>
          <p:cNvPr id="57" name="Graphic 56" descr="Close">
            <a:extLst>
              <a:ext uri="{FF2B5EF4-FFF2-40B4-BE49-F238E27FC236}">
                <a16:creationId xmlns:a16="http://schemas.microsoft.com/office/drawing/2014/main" id="{7EBD7DD8-C603-F018-D22C-ADD90FDCE0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35632" y="4002889"/>
            <a:ext cx="453366" cy="453366"/>
          </a:xfrm>
          <a:prstGeom prst="rect">
            <a:avLst/>
          </a:prstGeom>
        </p:spPr>
      </p:pic>
      <p:pic>
        <p:nvPicPr>
          <p:cNvPr id="59" name="Graphic 58" descr="Close">
            <a:extLst>
              <a:ext uri="{FF2B5EF4-FFF2-40B4-BE49-F238E27FC236}">
                <a16:creationId xmlns:a16="http://schemas.microsoft.com/office/drawing/2014/main" id="{116BEAFF-578F-F529-5DF6-CDE6B5A1F8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35632" y="4691778"/>
            <a:ext cx="453366" cy="453366"/>
          </a:xfrm>
          <a:prstGeom prst="rect">
            <a:avLst/>
          </a:prstGeom>
        </p:spPr>
      </p:pic>
      <p:pic>
        <p:nvPicPr>
          <p:cNvPr id="61" name="Graphic 60" descr="Close">
            <a:extLst>
              <a:ext uri="{FF2B5EF4-FFF2-40B4-BE49-F238E27FC236}">
                <a16:creationId xmlns:a16="http://schemas.microsoft.com/office/drawing/2014/main" id="{87A6789D-5617-9B23-7339-59D3F6FD54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35632" y="5517275"/>
            <a:ext cx="453366" cy="453366"/>
          </a:xfrm>
          <a:prstGeom prst="rect">
            <a:avLst/>
          </a:prstGeom>
        </p:spPr>
      </p:pic>
      <p:pic>
        <p:nvPicPr>
          <p:cNvPr id="67" name="Graphic 66" descr="Close">
            <a:extLst>
              <a:ext uri="{FF2B5EF4-FFF2-40B4-BE49-F238E27FC236}">
                <a16:creationId xmlns:a16="http://schemas.microsoft.com/office/drawing/2014/main" id="{D09B6641-2EF9-2D4A-6A13-C6240AB7FF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58211" y="5517275"/>
            <a:ext cx="453366" cy="453366"/>
          </a:xfrm>
          <a:prstGeom prst="rect">
            <a:avLst/>
          </a:prstGeom>
        </p:spPr>
      </p:pic>
      <p:pic>
        <p:nvPicPr>
          <p:cNvPr id="69" name="Graphic 68" descr="Close">
            <a:extLst>
              <a:ext uri="{FF2B5EF4-FFF2-40B4-BE49-F238E27FC236}">
                <a16:creationId xmlns:a16="http://schemas.microsoft.com/office/drawing/2014/main" id="{1CE629A7-9353-7056-640D-5B7EB22A9C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58211" y="2073825"/>
            <a:ext cx="453366" cy="453366"/>
          </a:xfrm>
          <a:prstGeom prst="rect">
            <a:avLst/>
          </a:prstGeom>
        </p:spPr>
      </p:pic>
      <p:pic>
        <p:nvPicPr>
          <p:cNvPr id="71" name="Graphic 70" descr="Close">
            <a:extLst>
              <a:ext uri="{FF2B5EF4-FFF2-40B4-BE49-F238E27FC236}">
                <a16:creationId xmlns:a16="http://schemas.microsoft.com/office/drawing/2014/main" id="{AEEBD4DB-29B5-14C6-08DA-21FE577A40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69317" y="5517275"/>
            <a:ext cx="453366" cy="453366"/>
          </a:xfrm>
          <a:prstGeom prst="rect">
            <a:avLst/>
          </a:prstGeom>
        </p:spPr>
      </p:pic>
      <p:pic>
        <p:nvPicPr>
          <p:cNvPr id="73" name="Graphic 72" descr="Close">
            <a:extLst>
              <a:ext uri="{FF2B5EF4-FFF2-40B4-BE49-F238E27FC236}">
                <a16:creationId xmlns:a16="http://schemas.microsoft.com/office/drawing/2014/main" id="{C7F36D7A-4243-DE59-D40B-DD97955B95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69317" y="4691778"/>
            <a:ext cx="453366" cy="453366"/>
          </a:xfrm>
          <a:prstGeom prst="rect">
            <a:avLst/>
          </a:prstGeom>
        </p:spPr>
      </p:pic>
      <p:pic>
        <p:nvPicPr>
          <p:cNvPr id="5" name="Graphic 4" descr="Close">
            <a:extLst>
              <a:ext uri="{FF2B5EF4-FFF2-40B4-BE49-F238E27FC236}">
                <a16:creationId xmlns:a16="http://schemas.microsoft.com/office/drawing/2014/main" id="{D49DC947-FAC3-7D31-23F2-DE90B85865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58211" y="4691778"/>
            <a:ext cx="453366" cy="453366"/>
          </a:xfrm>
          <a:prstGeom prst="rect">
            <a:avLst/>
          </a:prstGeom>
        </p:spPr>
      </p:pic>
      <p:pic>
        <p:nvPicPr>
          <p:cNvPr id="7" name="Graphic 6" descr="Close">
            <a:extLst>
              <a:ext uri="{FF2B5EF4-FFF2-40B4-BE49-F238E27FC236}">
                <a16:creationId xmlns:a16="http://schemas.microsoft.com/office/drawing/2014/main" id="{8F28AB70-CDE0-629E-2141-1741F8AD4A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19301" y="2073825"/>
            <a:ext cx="453366" cy="453366"/>
          </a:xfrm>
          <a:prstGeom prst="rect">
            <a:avLst/>
          </a:prstGeom>
        </p:spPr>
      </p:pic>
      <p:pic>
        <p:nvPicPr>
          <p:cNvPr id="9" name="Graphic 8" descr="Close">
            <a:extLst>
              <a:ext uri="{FF2B5EF4-FFF2-40B4-BE49-F238E27FC236}">
                <a16:creationId xmlns:a16="http://schemas.microsoft.com/office/drawing/2014/main" id="{D03F90D5-A64F-6440-6327-A28B8EE960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20881" y="2073825"/>
            <a:ext cx="453366" cy="453366"/>
          </a:xfrm>
          <a:prstGeom prst="rect">
            <a:avLst/>
          </a:prstGeom>
        </p:spPr>
      </p:pic>
      <p:pic>
        <p:nvPicPr>
          <p:cNvPr id="11" name="Graphic 10" descr="Close">
            <a:extLst>
              <a:ext uri="{FF2B5EF4-FFF2-40B4-BE49-F238E27FC236}">
                <a16:creationId xmlns:a16="http://schemas.microsoft.com/office/drawing/2014/main" id="{EBAA19E5-65AF-A321-7BEA-EA5D658514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31987" y="2073825"/>
            <a:ext cx="453366" cy="453366"/>
          </a:xfrm>
          <a:prstGeom prst="rect">
            <a:avLst/>
          </a:prstGeom>
        </p:spPr>
      </p:pic>
      <p:pic>
        <p:nvPicPr>
          <p:cNvPr id="13" name="Graphic 12" descr="Close">
            <a:extLst>
              <a:ext uri="{FF2B5EF4-FFF2-40B4-BE49-F238E27FC236}">
                <a16:creationId xmlns:a16="http://schemas.microsoft.com/office/drawing/2014/main" id="{4F773543-CF00-23D6-E15B-4600A21420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69317" y="3950607"/>
            <a:ext cx="453366" cy="453366"/>
          </a:xfrm>
          <a:prstGeom prst="rect">
            <a:avLst/>
          </a:prstGeom>
        </p:spPr>
      </p:pic>
      <p:pic>
        <p:nvPicPr>
          <p:cNvPr id="20" name="Graphic 19" descr="Close">
            <a:extLst>
              <a:ext uri="{FF2B5EF4-FFF2-40B4-BE49-F238E27FC236}">
                <a16:creationId xmlns:a16="http://schemas.microsoft.com/office/drawing/2014/main" id="{9E737C7A-871C-1F45-9B6D-789FE3232D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20881" y="5517658"/>
            <a:ext cx="453366" cy="453366"/>
          </a:xfrm>
          <a:prstGeom prst="rect">
            <a:avLst/>
          </a:prstGeom>
        </p:spPr>
      </p:pic>
      <p:pic>
        <p:nvPicPr>
          <p:cNvPr id="22" name="Graphic 21" descr="Close">
            <a:extLst>
              <a:ext uri="{FF2B5EF4-FFF2-40B4-BE49-F238E27FC236}">
                <a16:creationId xmlns:a16="http://schemas.microsoft.com/office/drawing/2014/main" id="{C80BFE97-3ABD-5A91-EB38-4F0FD404FF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31987" y="5517275"/>
            <a:ext cx="453366" cy="453366"/>
          </a:xfrm>
          <a:prstGeom prst="rect">
            <a:avLst/>
          </a:prstGeom>
        </p:spPr>
      </p:pic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7E9B8C79-0641-7AF6-30E4-FEC9FB2AC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1D4BD-E62D-47AB-8189-7EA24C4296D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464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34E4A-B5DF-5D00-4609-8329657A3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latin typeface="Bahnschrift" panose="020B0502040204020203" pitchFamily="34" charset="0"/>
              </a:rPr>
              <a:t>R&amp;D and Technical Aspect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6D86DA0-512A-D6F7-ED01-C28070258C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714398"/>
              </p:ext>
            </p:extLst>
          </p:nvPr>
        </p:nvGraphicFramePr>
        <p:xfrm>
          <a:off x="956236" y="1571312"/>
          <a:ext cx="10330329" cy="41572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43443">
                  <a:extLst>
                    <a:ext uri="{9D8B030D-6E8A-4147-A177-3AD203B41FA5}">
                      <a16:colId xmlns:a16="http://schemas.microsoft.com/office/drawing/2014/main" val="3551754241"/>
                    </a:ext>
                  </a:extLst>
                </a:gridCol>
                <a:gridCol w="3443443">
                  <a:extLst>
                    <a:ext uri="{9D8B030D-6E8A-4147-A177-3AD203B41FA5}">
                      <a16:colId xmlns:a16="http://schemas.microsoft.com/office/drawing/2014/main" val="1636653432"/>
                    </a:ext>
                  </a:extLst>
                </a:gridCol>
                <a:gridCol w="3443443">
                  <a:extLst>
                    <a:ext uri="{9D8B030D-6E8A-4147-A177-3AD203B41FA5}">
                      <a16:colId xmlns:a16="http://schemas.microsoft.com/office/drawing/2014/main" val="1442732895"/>
                    </a:ext>
                  </a:extLst>
                </a:gridCol>
              </a:tblGrid>
              <a:tr h="591048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Bahnschrift" panose="020B0502040204020203" pitchFamily="34" charset="0"/>
                        </a:rPr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Bahnschrift" panose="020B0502040204020203" pitchFamily="34" charset="0"/>
                        </a:rPr>
                        <a:t>Key Finding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Bahnschrift" panose="020B0502040204020203" pitchFamily="34" charset="0"/>
                        </a:rPr>
                        <a:t>What we learned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823456"/>
                  </a:ext>
                </a:extLst>
              </a:tr>
              <a:tr h="5910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+mn-lt"/>
                        </a:rPr>
                        <a:t>Stock Price Prediction Using FinBERT-Enhanced Sentiment with SHAP Explainability - Ruan &amp; Jiang</a:t>
                      </a:r>
                    </a:p>
                    <a:p>
                      <a:r>
                        <a:rPr lang="en-US" sz="1800" dirty="0">
                          <a:latin typeface="+mn-lt"/>
                        </a:rPr>
                        <a:t>(Mathematics, 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+mn-lt"/>
                        </a:rPr>
                        <a:t>Combines FinBERT sentiment with technical indicators in XGBoost; SHAP shows consistent, interpretable feature contributions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+mn-lt"/>
                        </a:rPr>
                        <a:t>Validates our FinBERT + XGBoost + SHAP pipeline choice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7980204"/>
                  </a:ext>
                </a:extLst>
              </a:tr>
              <a:tr h="591048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+mn-lt"/>
                        </a:rPr>
                        <a:t>Profit Mirage: Revisiting Information Leakage in LLM-based Financial Agents - Li et al. </a:t>
                      </a:r>
                    </a:p>
                    <a:p>
                      <a:r>
                        <a:rPr lang="en-US" sz="1800" dirty="0">
                          <a:latin typeface="+mn-lt"/>
                        </a:rPr>
                        <a:t>(arXiv 2510.07920, 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+mn-lt"/>
                        </a:rPr>
                        <a:t>Back tested LLM trading returns collapse once models face genuinely post-training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+mn-lt"/>
                        </a:rPr>
                        <a:t>Directly justifies our walk-forward and negative-control evaluation design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1725363"/>
                  </a:ext>
                </a:extLst>
              </a:tr>
              <a:tr h="591048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+mn-lt"/>
                        </a:rPr>
                        <a:t>When Alpha Disappears – </a:t>
                      </a:r>
                    </a:p>
                    <a:p>
                      <a:r>
                        <a:rPr lang="en-US" sz="1800" dirty="0">
                          <a:latin typeface="+mn-lt"/>
                        </a:rPr>
                        <a:t>decision-time leakage benchmark for financial back-tests (2026)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+mn-lt"/>
                        </a:rPr>
                        <a:t>Leakage isn't binary. even small protocol conventions (e.g., using same-day close) inflate backtest results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+mn-lt"/>
                        </a:rPr>
                        <a:t>Motivates our strict point-in-time cutoff enforcement, not just walk-forward splitting alone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4852514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9F7EC0-091E-4480-3B0F-30728F187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1D4BD-E62D-47AB-8189-7EA24C4296D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507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F6BE6-909A-91D0-4647-BF30318E9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ahnschrift" panose="020B0502040204020203" pitchFamily="34" charset="0"/>
              </a:rPr>
              <a:t>Complex Computing Problem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B4B13-9CBC-A93C-F3C5-99005C92C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arenR"/>
            </a:pPr>
            <a:r>
              <a:rPr lang="en-US" sz="2400" b="1" dirty="0">
                <a:latin typeface="Bahnschrift" panose="020B0502040204020203" pitchFamily="34" charset="0"/>
              </a:rPr>
              <a:t>Leakage-safe pipeline design:</a:t>
            </a:r>
            <a:r>
              <a:rPr lang="en-US" sz="2400" b="1" dirty="0"/>
              <a:t> </a:t>
            </a:r>
            <a:r>
              <a:rPr lang="en-US" sz="2400" dirty="0"/>
              <a:t>designing a leakage-safe ML pipeline, multi-model orchestration not just calling an API</a:t>
            </a:r>
          </a:p>
          <a:p>
            <a:pPr marL="514350" indent="-514350">
              <a:buFont typeface="+mj-lt"/>
              <a:buAutoNum type="arabicParenR"/>
            </a:pPr>
            <a:endParaRPr lang="en-US" sz="2400" dirty="0"/>
          </a:p>
          <a:p>
            <a:pPr marL="514350" indent="-514350">
              <a:buFont typeface="+mj-lt"/>
              <a:buAutoNum type="arabicParenR"/>
            </a:pPr>
            <a:r>
              <a:rPr lang="en-US" sz="2400" b="1" dirty="0">
                <a:latin typeface="Bahnschrift" panose="020B0502040204020203" pitchFamily="34" charset="0"/>
              </a:rPr>
              <a:t>Multi-model orchestration:</a:t>
            </a:r>
            <a:r>
              <a:rPr lang="en-US" sz="2400" dirty="0">
                <a:latin typeface="Bahnschrift" panose="020B0502040204020203" pitchFamily="34" charset="0"/>
              </a:rPr>
              <a:t> </a:t>
            </a:r>
            <a:r>
              <a:rPr lang="en-US" sz="2400" dirty="0"/>
              <a:t>Reconciling sentiment models, XGBoost, SHAP, and an LLM as one coherent system, not isolated scripts.</a:t>
            </a:r>
          </a:p>
          <a:p>
            <a:pPr marL="514350" indent="-514350">
              <a:buFont typeface="+mj-lt"/>
              <a:buAutoNum type="arabicParenR"/>
            </a:pPr>
            <a:endParaRPr lang="en-US" sz="2400" dirty="0"/>
          </a:p>
          <a:p>
            <a:pPr marL="514350" indent="-514350">
              <a:buFont typeface="+mj-lt"/>
              <a:buAutoNum type="arabicParenR"/>
            </a:pPr>
            <a:r>
              <a:rPr lang="en-US" sz="2400" b="1" dirty="0">
                <a:latin typeface="Bahnschrift" panose="020B0502040204020203" pitchFamily="34" charset="0"/>
              </a:rPr>
              <a:t>Sentiment reconciliation: </a:t>
            </a:r>
            <a:r>
              <a:rPr lang="en-US" sz="2400" dirty="0"/>
              <a:t>fusing two independent models (formal news vs. informal social) into a single, coherent feature space</a:t>
            </a:r>
          </a:p>
          <a:p>
            <a:pPr marL="514350" indent="-514350">
              <a:buFont typeface="+mj-lt"/>
              <a:buAutoNum type="arabicParenR"/>
            </a:pPr>
            <a:endParaRPr lang="en-US" sz="2400" dirty="0"/>
          </a:p>
          <a:p>
            <a:pPr marL="514350" indent="-514350">
              <a:buFont typeface="+mj-lt"/>
              <a:buAutoNum type="arabicParenR"/>
            </a:pPr>
            <a:r>
              <a:rPr lang="en-US" sz="2400" b="1" dirty="0">
                <a:latin typeface="Bahnschrift" panose="020B0502040204020203" pitchFamily="34" charset="0"/>
              </a:rPr>
              <a:t>Calibrated explainability:</a:t>
            </a:r>
            <a:r>
              <a:rPr lang="en-US" sz="2400" dirty="0">
                <a:latin typeface="Bahnschrift" panose="020B0502040204020203" pitchFamily="34" charset="0"/>
              </a:rPr>
              <a:t> </a:t>
            </a:r>
            <a:r>
              <a:rPr lang="en-US" sz="2400" dirty="0"/>
              <a:t>translating SHAP attributions into natural language via LLM </a:t>
            </a:r>
            <a:r>
              <a:rPr lang="en-US" sz="2400" i="1" dirty="0"/>
              <a:t>without</a:t>
            </a:r>
            <a:r>
              <a:rPr lang="en-US" sz="2400" dirty="0"/>
              <a:t> the LLM inventing its own reasoning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05A82F-BA1D-36F3-0291-299EB1CBC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1D4BD-E62D-47AB-8189-7EA24C4296D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754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08E95-0F37-60D3-F75F-321D7A8BF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latin typeface="Bahnschrift" panose="020B0502040204020203" pitchFamily="34" charset="0"/>
              </a:rPr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4804A-3C1A-FE0B-DC41-31C0E5CF4A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89186"/>
            <a:ext cx="10515600" cy="9271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Risk Capacity + Tolerance -&gt; Multi-source sentiment (FinBERT + CryptoBERT) </a:t>
            </a:r>
          </a:p>
          <a:p>
            <a:pPr marL="0" indent="0">
              <a:buNone/>
            </a:pPr>
            <a:r>
              <a:rPr lang="en-US" sz="2400" dirty="0"/>
              <a:t>-&gt; XGBoost prediction -&gt; SHAP attribution -&gt; LLM explanation layer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F09AD82-DE7D-5EB2-DBA0-6A9BDF17C162}"/>
              </a:ext>
            </a:extLst>
          </p:cNvPr>
          <p:cNvSpPr txBox="1">
            <a:spLocks/>
          </p:cNvSpPr>
          <p:nvPr/>
        </p:nvSpPr>
        <p:spPr>
          <a:xfrm>
            <a:off x="838200" y="1587500"/>
            <a:ext cx="10515600" cy="7762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Bahnschrift" panose="020B0502040204020203" pitchFamily="34" charset="0"/>
              </a:rPr>
              <a:t>Proposed Workflow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35986BD-21D1-9BD3-8527-B8380A056575}"/>
              </a:ext>
            </a:extLst>
          </p:cNvPr>
          <p:cNvSpPr txBox="1">
            <a:spLocks/>
          </p:cNvSpPr>
          <p:nvPr/>
        </p:nvSpPr>
        <p:spPr>
          <a:xfrm>
            <a:off x="838200" y="3247231"/>
            <a:ext cx="10515600" cy="7762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Bahnschrift" panose="020B0502040204020203" pitchFamily="34" charset="0"/>
              </a:rPr>
              <a:t>Modules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C37E089-BACC-85F5-294C-63BCD1233719}"/>
              </a:ext>
            </a:extLst>
          </p:cNvPr>
          <p:cNvSpPr txBox="1">
            <a:spLocks/>
          </p:cNvSpPr>
          <p:nvPr/>
        </p:nvSpPr>
        <p:spPr>
          <a:xfrm>
            <a:off x="838200" y="3954463"/>
            <a:ext cx="10515600" cy="24003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sz="2400" dirty="0"/>
              <a:t>Investor Profiling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Sentimental Analysis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Predictive Model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Explanation Verifier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Explainability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Conversational Interface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C93757D-131A-0D72-923E-C5A707DB0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1D4BD-E62D-47AB-8189-7EA24C4296D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52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7A5F6-96D1-F688-5B89-ADFA3CBD2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diagram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1854A-D10F-218B-DC1E-E04631ACC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3B2254-E64A-9ECD-FAF2-7BA2A0F7C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1D4BD-E62D-47AB-8189-7EA24C4296D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318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A0F59-E581-BE54-E0F5-643B3ECE6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2B09E-018C-BACB-EC5D-BD0DFDA36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latin typeface="Bahnschrift" panose="020B0502040204020203" pitchFamily="34" charset="0"/>
              </a:rPr>
              <a:t>Our claim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3DC35-F397-253D-D538-5E18FD10B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89186"/>
            <a:ext cx="10515600" cy="927101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ea typeface="Calibri" pitchFamily="34" charset="-122"/>
                <a:cs typeface="Calibri" pitchFamily="34" charset="-120"/>
              </a:rPr>
              <a:t>No novelty in sentiment scoring, gradient boosting, SHAP-to-text, or QLoRA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ea typeface="Calibri" pitchFamily="34" charset="-122"/>
                <a:cs typeface="Calibri" pitchFamily="34" charset="-120"/>
              </a:rPr>
              <a:t>These all are engineering inputs. And no profit claim of any kind.</a:t>
            </a:r>
            <a:endParaRPr lang="en-US" sz="24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8F35E31-76FB-E848-0181-39D5B82EB549}"/>
              </a:ext>
            </a:extLst>
          </p:cNvPr>
          <p:cNvSpPr txBox="1">
            <a:spLocks/>
          </p:cNvSpPr>
          <p:nvPr/>
        </p:nvSpPr>
        <p:spPr>
          <a:xfrm>
            <a:off x="838200" y="1587500"/>
            <a:ext cx="10515600" cy="7762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Bahnschrift" panose="020B0502040204020203" pitchFamily="34" charset="0"/>
              </a:rPr>
              <a:t>What we do not claim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08A8583-7F7D-BB02-6390-DAF7D8F10A12}"/>
              </a:ext>
            </a:extLst>
          </p:cNvPr>
          <p:cNvSpPr txBox="1">
            <a:spLocks/>
          </p:cNvSpPr>
          <p:nvPr/>
        </p:nvSpPr>
        <p:spPr>
          <a:xfrm>
            <a:off x="838200" y="3247231"/>
            <a:ext cx="10515600" cy="7762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Bahnschrift" panose="020B0502040204020203" pitchFamily="34" charset="0"/>
              </a:rPr>
              <a:t>What we claim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B7B2897-A08D-88B2-5114-2BDBFD3ECE04}"/>
              </a:ext>
            </a:extLst>
          </p:cNvPr>
          <p:cNvSpPr txBox="1">
            <a:spLocks/>
          </p:cNvSpPr>
          <p:nvPr/>
        </p:nvSpPr>
        <p:spPr>
          <a:xfrm>
            <a:off x="838200" y="3954463"/>
            <a:ext cx="10515600" cy="24003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ts val="1800"/>
              </a:lnSpc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2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leakage-audited point-in-time evaluation harness.</a:t>
            </a:r>
            <a:endParaRPr lang="en-US" sz="2400" dirty="0"/>
          </a:p>
          <a:p>
            <a:pPr marL="457200" indent="-457200">
              <a:lnSpc>
                <a:spcPts val="1800"/>
              </a:lnSpc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2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 verifier for generated explanations.</a:t>
            </a:r>
            <a:endParaRPr lang="en-US" sz="2400" dirty="0"/>
          </a:p>
          <a:p>
            <a:pPr marL="457200" indent="-457200">
              <a:lnSpc>
                <a:spcPts val="1800"/>
              </a:lnSpc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2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Cross-register divergence features with a pre-registered ablation.</a:t>
            </a:r>
            <a:endParaRPr lang="en-US" sz="24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2ACA51-5325-D714-F73E-2CAEC4147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1D4BD-E62D-47AB-8189-7EA24C4296D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939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5DE36-A8AF-DDE3-CCCD-1A224A49C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6AD8E-A3F1-46A6-DA76-4D8DC99B3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latin typeface="Bahnschrift" panose="020B0502040204020203" pitchFamily="34" charset="0"/>
              </a:rPr>
              <a:t>Contribution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5B79B-F026-0278-1A4E-D876E6464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5531"/>
            <a:ext cx="10515600" cy="11140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A leakage-audited, point-in-time harness combined with a deterministic explanation verifier, delivering a risk-personalized advisory pipeline for selected S&amp;P 500 stocks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AE6E338-84D1-CE39-4D88-32FE36FCD11A}"/>
              </a:ext>
            </a:extLst>
          </p:cNvPr>
          <p:cNvSpPr txBox="1">
            <a:spLocks/>
          </p:cNvSpPr>
          <p:nvPr/>
        </p:nvSpPr>
        <p:spPr>
          <a:xfrm>
            <a:off x="838200" y="2608808"/>
            <a:ext cx="10515600" cy="7762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Bahnschrift" panose="020B0502040204020203" pitchFamily="34" charset="0"/>
              </a:rPr>
              <a:t>Selected Stocks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DC4A436-7361-C50C-5325-C2B3CE5FC64F}"/>
              </a:ext>
            </a:extLst>
          </p:cNvPr>
          <p:cNvSpPr txBox="1">
            <a:spLocks/>
          </p:cNvSpPr>
          <p:nvPr/>
        </p:nvSpPr>
        <p:spPr>
          <a:xfrm>
            <a:off x="838200" y="3332162"/>
            <a:ext cx="10515600" cy="33607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sz="2400" dirty="0"/>
              <a:t>AAPL (Apple)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TSLA (Tesla)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NVDA (NVIDIA)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MSFT (Microsoft)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META (Meta/Facebook)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AMD (Advanced Micro Devices)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PLTR (Palantir)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8657F2-D8E1-B811-65C3-2D7D67908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1D4BD-E62D-47AB-8189-7EA24C4296D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700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A0E97-3243-17F1-84CA-90D76894E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6E4B1-87B3-EFC2-BBE0-1050BEAB9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latin typeface="Bahnschrift" panose="020B0502040204020203" pitchFamily="34" charset="0"/>
              </a:rPr>
              <a:t>Proof of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21917-F404-2C53-2178-3B6381644D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9575"/>
            <a:ext cx="10515600" cy="9271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What is being demonstrated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FADC551-4BAE-BBCB-BBC8-D87C524FAAA1}"/>
              </a:ext>
            </a:extLst>
          </p:cNvPr>
          <p:cNvSpPr txBox="1">
            <a:spLocks/>
          </p:cNvSpPr>
          <p:nvPr/>
        </p:nvSpPr>
        <p:spPr>
          <a:xfrm>
            <a:off x="838200" y="2555874"/>
            <a:ext cx="10515600" cy="7762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400" b="1" dirty="0">
              <a:latin typeface="Bahnschrift" panose="020B0502040204020203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2C48FED-B8A7-675E-80C0-52072C30AE3C}"/>
              </a:ext>
            </a:extLst>
          </p:cNvPr>
          <p:cNvSpPr txBox="1">
            <a:spLocks/>
          </p:cNvSpPr>
          <p:nvPr/>
        </p:nvSpPr>
        <p:spPr>
          <a:xfrm>
            <a:off x="838200" y="3332162"/>
            <a:ext cx="10515600" cy="33607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8495D3-4538-47BD-DB80-9D015F29A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1D4BD-E62D-47AB-8189-7EA24C4296D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1340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3F59C-7795-8113-F5FB-A9B1564D9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A776A-FE80-30FA-D24C-85300E7BF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latin typeface="Bahnschrift" panose="020B0502040204020203" pitchFamily="34" charset="0"/>
              </a:rPr>
              <a:t>Evaluation Plan and Risks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7F83E9A-C864-2279-7617-E33C612D6B75}"/>
              </a:ext>
            </a:extLst>
          </p:cNvPr>
          <p:cNvSpPr txBox="1">
            <a:spLocks/>
          </p:cNvSpPr>
          <p:nvPr/>
        </p:nvSpPr>
        <p:spPr>
          <a:xfrm>
            <a:off x="838200" y="1501774"/>
            <a:ext cx="10515600" cy="7762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Bahnschrift" panose="020B0502040204020203" pitchFamily="34" charset="0"/>
              </a:rPr>
              <a:t>Success Metrics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E37DFCE-C63B-109A-45DA-1128D7538E0D}"/>
              </a:ext>
            </a:extLst>
          </p:cNvPr>
          <p:cNvSpPr txBox="1">
            <a:spLocks/>
          </p:cNvSpPr>
          <p:nvPr/>
        </p:nvSpPr>
        <p:spPr>
          <a:xfrm>
            <a:off x="838200" y="2252662"/>
            <a:ext cx="10515600" cy="14049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sz="2400" dirty="0"/>
              <a:t>Walk-forward backtest accuracy / macro-F1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leakage-control comparison (walk-forward vs. shuffled-fold)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calibration quality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67238DB-4441-02CA-9FE0-039E9CE4A07D}"/>
              </a:ext>
            </a:extLst>
          </p:cNvPr>
          <p:cNvSpPr txBox="1">
            <a:spLocks/>
          </p:cNvSpPr>
          <p:nvPr/>
        </p:nvSpPr>
        <p:spPr>
          <a:xfrm>
            <a:off x="838200" y="3657600"/>
            <a:ext cx="10515600" cy="7762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Bahnschrift" panose="020B0502040204020203" pitchFamily="34" charset="0"/>
              </a:rPr>
              <a:t>Risks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CDC3DE4-0298-06A3-E235-0D5498320ECB}"/>
              </a:ext>
            </a:extLst>
          </p:cNvPr>
          <p:cNvSpPr txBox="1">
            <a:spLocks/>
          </p:cNvSpPr>
          <p:nvPr/>
        </p:nvSpPr>
        <p:spPr>
          <a:xfrm>
            <a:off x="838200" y="4408488"/>
            <a:ext cx="10515600" cy="14049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sz="2400" dirty="0"/>
              <a:t>Sentiment data sparsity for smaller tickers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LLM explanation drift from SHAP values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API rate limits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32EE10-0EC8-8281-D62D-0BA92E53B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1D4BD-E62D-47AB-8189-7EA24C4296D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3122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4B1A7-B6C4-7C0F-9010-48C5E12E9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B49FF-E28B-B2E4-F2E5-7CFFF96E1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2825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Bahnschrift" panose="020B0502040204020203" pitchFamily="34" charset="0"/>
              </a:rPr>
              <a:t>Work Division &amp; Iterations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0C397A3-BCF1-12C2-B37C-89869EDD48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568082"/>
              </p:ext>
            </p:extLst>
          </p:nvPr>
        </p:nvGraphicFramePr>
        <p:xfrm>
          <a:off x="142875" y="1504951"/>
          <a:ext cx="11820526" cy="51879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A78D55B1-562D-7646-5D45-1E13D1D7F527}"/>
              </a:ext>
            </a:extLst>
          </p:cNvPr>
          <p:cNvSpPr txBox="1">
            <a:spLocks/>
          </p:cNvSpPr>
          <p:nvPr/>
        </p:nvSpPr>
        <p:spPr>
          <a:xfrm>
            <a:off x="838200" y="2555874"/>
            <a:ext cx="10515600" cy="7762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400" b="1" dirty="0">
              <a:latin typeface="Bahnschrift" panose="020B0502040204020203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E401681-AE97-23C8-E583-125DCB1004F1}"/>
              </a:ext>
            </a:extLst>
          </p:cNvPr>
          <p:cNvSpPr txBox="1">
            <a:spLocks/>
          </p:cNvSpPr>
          <p:nvPr/>
        </p:nvSpPr>
        <p:spPr>
          <a:xfrm>
            <a:off x="838200" y="3332162"/>
            <a:ext cx="10515600" cy="33607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8E5AD5-D1D2-496A-7273-5D7ED7F65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1D4BD-E62D-47AB-8189-7EA24C4296D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9729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967CA-DDB5-8BCC-A07B-923E27A8E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69E6D-E656-32CC-9651-C848981FE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latin typeface="Bahnschrift" panose="020B0502040204020203" pitchFamily="34" charset="0"/>
              </a:rPr>
              <a:t>Work Division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49548C-FFA9-6A9D-3F09-465519CB6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1D4BD-E62D-47AB-8189-7EA24C4296D1}" type="slidenum">
              <a:rPr lang="en-US" smtClean="0"/>
              <a:t>13</a:t>
            </a:fld>
            <a:endParaRPr lang="en-US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53036F48-8974-EC81-2787-94E8086735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12421361"/>
              </p:ext>
            </p:extLst>
          </p:nvPr>
        </p:nvGraphicFramePr>
        <p:xfrm>
          <a:off x="740979" y="1458420"/>
          <a:ext cx="10710042" cy="50215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249476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98A0F-89AA-8033-DD01-CDB9DB642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3D8C0-8F84-F85C-0F2B-81871BA4E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latin typeface="Bahnschrift" panose="020B0502040204020203" pitchFamily="34" charset="0"/>
              </a:rPr>
              <a:t>DEI, Ethics and Legal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6AFDB-6D36-16E4-16BC-D4F1579AD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16149"/>
            <a:ext cx="10515600" cy="3432175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arenR"/>
            </a:pPr>
            <a:r>
              <a:rPr lang="en-US" sz="2400" b="1" dirty="0"/>
              <a:t>DEI:</a:t>
            </a:r>
            <a:r>
              <a:rPr lang="en-US" sz="2400" dirty="0"/>
              <a:t> Risk assessment (capacity + tolerance) designed to be accessible regardless of financial literacy background</a:t>
            </a:r>
          </a:p>
          <a:p>
            <a:pPr marL="514350" indent="-514350">
              <a:buFont typeface="+mj-lt"/>
              <a:buAutoNum type="arabicParenR"/>
            </a:pPr>
            <a:endParaRPr lang="en-US" sz="2400" dirty="0"/>
          </a:p>
          <a:p>
            <a:pPr marL="514350" indent="-514350">
              <a:buFont typeface="+mj-lt"/>
              <a:buAutoNum type="arabicParenR"/>
            </a:pPr>
            <a:r>
              <a:rPr lang="en-US" sz="2400" b="1" dirty="0"/>
              <a:t>Ethical: </a:t>
            </a:r>
            <a:r>
              <a:rPr lang="en-US" sz="2400" dirty="0"/>
              <a:t>Not licensed financial advice, not for live trading; explanations must not overstate model certainty; sentiment inputs disclosed as manipulable</a:t>
            </a:r>
          </a:p>
          <a:p>
            <a:pPr marL="514350" indent="-514350">
              <a:buFont typeface="+mj-lt"/>
              <a:buAutoNum type="arabicParenR"/>
            </a:pPr>
            <a:endParaRPr lang="en-US" sz="2400" dirty="0"/>
          </a:p>
          <a:p>
            <a:pPr marL="514350" indent="-514350">
              <a:buFont typeface="+mj-lt"/>
              <a:buAutoNum type="arabicParenR"/>
            </a:pPr>
            <a:r>
              <a:rPr lang="en-US" sz="2400" b="1" dirty="0"/>
              <a:t>Legal: </a:t>
            </a:r>
            <a:r>
              <a:rPr lang="en-US" sz="2400" dirty="0"/>
              <a:t>Compliance with data source terms (Reddit/StockTwits API usage); no non-public/insider information; personal financial data stays local to deployment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D55C21-4E51-E5B0-474A-622257181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1D4BD-E62D-47AB-8189-7EA24C4296D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9925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2E3B0-8F15-4713-BD0C-B669423B2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252662"/>
          </a:xfrm>
        </p:spPr>
        <p:txBody>
          <a:bodyPr>
            <a:normAutofit/>
          </a:bodyPr>
          <a:lstStyle/>
          <a:p>
            <a:pPr algn="ctr"/>
            <a:r>
              <a:rPr lang="en-US" sz="9600" b="1" dirty="0">
                <a:latin typeface="Bahnschrift" panose="020B0502040204020203" pitchFamily="34" charset="0"/>
              </a:rPr>
              <a:t>Thank you.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0095AB-2003-C1B5-464C-B917E878AC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Bahnschrift" panose="020B0502040204020203" pitchFamily="34" charset="0"/>
              </a:rPr>
              <a:t>Any Questions?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18B84C-C918-C2F2-6E9C-BDFFE2488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1D4BD-E62D-47AB-8189-7EA24C4296D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391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990</Words>
  <Application>Microsoft Office PowerPoint</Application>
  <PresentationFormat>Widescreen</PresentationFormat>
  <Paragraphs>213</Paragraphs>
  <Slides>15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Bahnschrift</vt:lpstr>
      <vt:lpstr>Calibri</vt:lpstr>
      <vt:lpstr>Calibri Light</vt:lpstr>
      <vt:lpstr>Office Theme</vt:lpstr>
      <vt:lpstr>Investify </vt:lpstr>
      <vt:lpstr>Problems and Users</vt:lpstr>
      <vt:lpstr>Existing Solutions</vt:lpstr>
      <vt:lpstr>R&amp;D and Technical Aspect</vt:lpstr>
      <vt:lpstr>Complex Computing Problem</vt:lpstr>
      <vt:lpstr>Proposed Solution</vt:lpstr>
      <vt:lpstr>Flow diagram</vt:lpstr>
      <vt:lpstr>Our claim</vt:lpstr>
      <vt:lpstr>Contribution</vt:lpstr>
      <vt:lpstr>Proof of Concept</vt:lpstr>
      <vt:lpstr>Evaluation Plan and Risks</vt:lpstr>
      <vt:lpstr>Work Division &amp; Iterations</vt:lpstr>
      <vt:lpstr>Work Division</vt:lpstr>
      <vt:lpstr>DEI, Ethics and Legal Issues</vt:lpstr>
      <vt:lpstr>Thank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Rafay Haq</dc:creator>
  <cp:lastModifiedBy>Ahmed Javaid</cp:lastModifiedBy>
  <cp:revision>5</cp:revision>
  <dcterms:created xsi:type="dcterms:W3CDTF">2026-09-05T18:19:47Z</dcterms:created>
  <dcterms:modified xsi:type="dcterms:W3CDTF">2026-09-10T19:36:34Z</dcterms:modified>
</cp:coreProperties>
</file>